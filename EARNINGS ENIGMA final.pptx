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56" autoAdjust="0"/>
    <p:restoredTop sz="94658"/>
  </p:normalViewPr>
  <p:slideViewPr>
    <p:cSldViewPr snapToGrid="0">
      <p:cViewPr varScale="1">
        <p:scale>
          <a:sx n="120" d="100"/>
          <a:sy n="120" d="100"/>
        </p:scale>
        <p:origin x="7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D2A7F9-0F65-408F-9138-5D47823BBC3D}"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EECA9E80-4520-49B5-BB26-C4CEF5DAEC30}">
      <dgm:prSet/>
      <dgm:spPr/>
      <dgm:t>
        <a:bodyPr/>
        <a:lstStyle/>
        <a:p>
          <a:pPr>
            <a:lnSpc>
              <a:spcPct val="100000"/>
            </a:lnSpc>
          </a:pPr>
          <a:r>
            <a:rPr lang="en-IN" dirty="0"/>
            <a:t>Data </a:t>
          </a:r>
          <a:endParaRPr lang="en-US" dirty="0"/>
        </a:p>
      </dgm:t>
    </dgm:pt>
    <dgm:pt modelId="{DC7A587C-82B3-4156-9A2A-B0A57AA6F8A4}" type="parTrans" cxnId="{5EDBCADD-7347-4671-8881-B20CF5302986}">
      <dgm:prSet/>
      <dgm:spPr/>
      <dgm:t>
        <a:bodyPr/>
        <a:lstStyle/>
        <a:p>
          <a:endParaRPr lang="en-US"/>
        </a:p>
      </dgm:t>
    </dgm:pt>
    <dgm:pt modelId="{507F7DEE-D629-425A-B9A0-9F29245A5201}" type="sibTrans" cxnId="{5EDBCADD-7347-4671-8881-B20CF5302986}">
      <dgm:prSet/>
      <dgm:spPr/>
      <dgm:t>
        <a:bodyPr/>
        <a:lstStyle/>
        <a:p>
          <a:endParaRPr lang="en-US"/>
        </a:p>
      </dgm:t>
    </dgm:pt>
    <dgm:pt modelId="{60993CAA-AE43-4180-B9FC-193CEE2BE9C6}">
      <dgm:prSet/>
      <dgm:spPr/>
      <dgm:t>
        <a:bodyPr/>
        <a:lstStyle/>
        <a:p>
          <a:pPr>
            <a:lnSpc>
              <a:spcPct val="100000"/>
            </a:lnSpc>
          </a:pPr>
          <a:r>
            <a:rPr lang="en-IN" dirty="0"/>
            <a:t>Feature Selection </a:t>
          </a:r>
          <a:endParaRPr lang="en-US" dirty="0"/>
        </a:p>
      </dgm:t>
    </dgm:pt>
    <dgm:pt modelId="{EA02FFFC-E0AF-494C-8A81-ED8A6CD48297}" type="parTrans" cxnId="{2C3EFA7A-D841-4EE3-8EBC-89A793962359}">
      <dgm:prSet/>
      <dgm:spPr/>
      <dgm:t>
        <a:bodyPr/>
        <a:lstStyle/>
        <a:p>
          <a:endParaRPr lang="en-US"/>
        </a:p>
      </dgm:t>
    </dgm:pt>
    <dgm:pt modelId="{C53AE9F8-01FD-42E3-AFA7-A280A8A98ABB}" type="sibTrans" cxnId="{2C3EFA7A-D841-4EE3-8EBC-89A793962359}">
      <dgm:prSet/>
      <dgm:spPr/>
      <dgm:t>
        <a:bodyPr/>
        <a:lstStyle/>
        <a:p>
          <a:endParaRPr lang="en-US"/>
        </a:p>
      </dgm:t>
    </dgm:pt>
    <dgm:pt modelId="{FE4AD556-F9B2-4408-B9D5-B44CE93EF519}">
      <dgm:prSet/>
      <dgm:spPr/>
      <dgm:t>
        <a:bodyPr/>
        <a:lstStyle/>
        <a:p>
          <a:pPr>
            <a:lnSpc>
              <a:spcPct val="100000"/>
            </a:lnSpc>
          </a:pPr>
          <a:r>
            <a:rPr lang="en-IN" dirty="0"/>
            <a:t>Algorithm</a:t>
          </a:r>
          <a:endParaRPr lang="en-US" dirty="0"/>
        </a:p>
      </dgm:t>
    </dgm:pt>
    <dgm:pt modelId="{4547B682-0E57-4909-89E7-3F17117F7633}" type="parTrans" cxnId="{2CAC2128-27C5-4341-9ACB-3F4B6380E075}">
      <dgm:prSet/>
      <dgm:spPr/>
      <dgm:t>
        <a:bodyPr/>
        <a:lstStyle/>
        <a:p>
          <a:endParaRPr lang="en-US"/>
        </a:p>
      </dgm:t>
    </dgm:pt>
    <dgm:pt modelId="{CAD165EA-B5D9-4986-8876-0F0D16DB83D9}" type="sibTrans" cxnId="{2CAC2128-27C5-4341-9ACB-3F4B6380E075}">
      <dgm:prSet/>
      <dgm:spPr/>
      <dgm:t>
        <a:bodyPr/>
        <a:lstStyle/>
        <a:p>
          <a:endParaRPr lang="en-US"/>
        </a:p>
      </dgm:t>
    </dgm:pt>
    <dgm:pt modelId="{328EFABA-4E15-4A12-93BD-D32CF992DD12}">
      <dgm:prSet/>
      <dgm:spPr/>
      <dgm:t>
        <a:bodyPr/>
        <a:lstStyle/>
        <a:p>
          <a:pPr>
            <a:lnSpc>
              <a:spcPct val="100000"/>
            </a:lnSpc>
          </a:pPr>
          <a:r>
            <a:rPr lang="en-IN" dirty="0"/>
            <a:t>Ethical Concerns</a:t>
          </a:r>
          <a:endParaRPr lang="en-US" dirty="0"/>
        </a:p>
      </dgm:t>
    </dgm:pt>
    <dgm:pt modelId="{FB5060B9-EA6F-4EE1-A1B9-5AB8BAED414F}" type="parTrans" cxnId="{DEACF480-F564-4A19-B11B-DE22A1C672DB}">
      <dgm:prSet/>
      <dgm:spPr/>
      <dgm:t>
        <a:bodyPr/>
        <a:lstStyle/>
        <a:p>
          <a:endParaRPr lang="en-US"/>
        </a:p>
      </dgm:t>
    </dgm:pt>
    <dgm:pt modelId="{1B349282-2A3B-4492-B371-9BBDB93F350F}" type="sibTrans" cxnId="{DEACF480-F564-4A19-B11B-DE22A1C672DB}">
      <dgm:prSet/>
      <dgm:spPr/>
      <dgm:t>
        <a:bodyPr/>
        <a:lstStyle/>
        <a:p>
          <a:endParaRPr lang="en-US"/>
        </a:p>
      </dgm:t>
    </dgm:pt>
    <dgm:pt modelId="{59F5B25F-BE6E-45E2-BDDE-8140C30BA313}">
      <dgm:prSet/>
      <dgm:spPr/>
      <dgm:t>
        <a:bodyPr/>
        <a:lstStyle/>
        <a:p>
          <a:pPr>
            <a:lnSpc>
              <a:spcPct val="100000"/>
            </a:lnSpc>
          </a:pPr>
          <a:r>
            <a:rPr lang="en-IN" dirty="0"/>
            <a:t>Findings</a:t>
          </a:r>
          <a:endParaRPr lang="en-US" dirty="0"/>
        </a:p>
      </dgm:t>
    </dgm:pt>
    <dgm:pt modelId="{D56B3D90-6A3C-4985-B8AE-8D889C777FCB}" type="parTrans" cxnId="{449A6CB8-831D-489C-9344-EF23D74ADC30}">
      <dgm:prSet/>
      <dgm:spPr/>
      <dgm:t>
        <a:bodyPr/>
        <a:lstStyle/>
        <a:p>
          <a:endParaRPr lang="en-US"/>
        </a:p>
      </dgm:t>
    </dgm:pt>
    <dgm:pt modelId="{0E77AA9E-1DE3-46D4-9AB1-D29D6E980AD7}" type="sibTrans" cxnId="{449A6CB8-831D-489C-9344-EF23D74ADC30}">
      <dgm:prSet/>
      <dgm:spPr/>
      <dgm:t>
        <a:bodyPr/>
        <a:lstStyle/>
        <a:p>
          <a:endParaRPr lang="en-US"/>
        </a:p>
      </dgm:t>
    </dgm:pt>
    <dgm:pt modelId="{FE49FA16-E167-409B-9F94-62A856E15435}" type="pres">
      <dgm:prSet presAssocID="{31D2A7F9-0F65-408F-9138-5D47823BBC3D}" presName="root" presStyleCnt="0">
        <dgm:presLayoutVars>
          <dgm:dir/>
          <dgm:resizeHandles val="exact"/>
        </dgm:presLayoutVars>
      </dgm:prSet>
      <dgm:spPr/>
    </dgm:pt>
    <dgm:pt modelId="{E00ACE3A-C638-4A32-A139-6729B925181A}" type="pres">
      <dgm:prSet presAssocID="{EECA9E80-4520-49B5-BB26-C4CEF5DAEC30}" presName="compNode" presStyleCnt="0"/>
      <dgm:spPr/>
    </dgm:pt>
    <dgm:pt modelId="{A3A12F97-07CC-456D-B52D-70DDE698F393}" type="pres">
      <dgm:prSet presAssocID="{EECA9E80-4520-49B5-BB26-C4CEF5DAEC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13A36356-13F3-4175-94FC-7A06FB458C35}" type="pres">
      <dgm:prSet presAssocID="{EECA9E80-4520-49B5-BB26-C4CEF5DAEC30}" presName="spaceRect" presStyleCnt="0"/>
      <dgm:spPr/>
    </dgm:pt>
    <dgm:pt modelId="{2D8E1D64-4D58-446C-AE35-8B439BEA66A6}" type="pres">
      <dgm:prSet presAssocID="{EECA9E80-4520-49B5-BB26-C4CEF5DAEC30}" presName="textRect" presStyleLbl="revTx" presStyleIdx="0" presStyleCnt="5">
        <dgm:presLayoutVars>
          <dgm:chMax val="1"/>
          <dgm:chPref val="1"/>
        </dgm:presLayoutVars>
      </dgm:prSet>
      <dgm:spPr/>
    </dgm:pt>
    <dgm:pt modelId="{FFA9E10C-96AE-43CB-A9D8-D99B4CD31811}" type="pres">
      <dgm:prSet presAssocID="{507F7DEE-D629-425A-B9A0-9F29245A5201}" presName="sibTrans" presStyleCnt="0"/>
      <dgm:spPr/>
    </dgm:pt>
    <dgm:pt modelId="{64C72A14-4A1A-4525-9E15-53E97DF95688}" type="pres">
      <dgm:prSet presAssocID="{60993CAA-AE43-4180-B9FC-193CEE2BE9C6}" presName="compNode" presStyleCnt="0"/>
      <dgm:spPr/>
    </dgm:pt>
    <dgm:pt modelId="{F92CEC2B-CAE9-4B2E-B761-41FB50E8B6CA}" type="pres">
      <dgm:prSet presAssocID="{60993CAA-AE43-4180-B9FC-193CEE2BE9C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81406838-A0E2-40AD-B73B-9996D3C183F2}" type="pres">
      <dgm:prSet presAssocID="{60993CAA-AE43-4180-B9FC-193CEE2BE9C6}" presName="spaceRect" presStyleCnt="0"/>
      <dgm:spPr/>
    </dgm:pt>
    <dgm:pt modelId="{9FF785BF-B30F-4F6A-9EA3-33CF09E3DB87}" type="pres">
      <dgm:prSet presAssocID="{60993CAA-AE43-4180-B9FC-193CEE2BE9C6}" presName="textRect" presStyleLbl="revTx" presStyleIdx="1" presStyleCnt="5">
        <dgm:presLayoutVars>
          <dgm:chMax val="1"/>
          <dgm:chPref val="1"/>
        </dgm:presLayoutVars>
      </dgm:prSet>
      <dgm:spPr/>
    </dgm:pt>
    <dgm:pt modelId="{46C3DCE1-4027-4D51-BC18-23D658E8558C}" type="pres">
      <dgm:prSet presAssocID="{C53AE9F8-01FD-42E3-AFA7-A280A8A98ABB}" presName="sibTrans" presStyleCnt="0"/>
      <dgm:spPr/>
    </dgm:pt>
    <dgm:pt modelId="{F9574AFC-F1DF-4DB7-97AD-9EA6A4F09898}" type="pres">
      <dgm:prSet presAssocID="{FE4AD556-F9B2-4408-B9D5-B44CE93EF519}" presName="compNode" presStyleCnt="0"/>
      <dgm:spPr/>
    </dgm:pt>
    <dgm:pt modelId="{5FFC7B5D-8ADB-4E9E-94F3-BC32448044E7}" type="pres">
      <dgm:prSet presAssocID="{FE4AD556-F9B2-4408-B9D5-B44CE93EF51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95A845B3-8148-4A09-BBFD-AF501049614E}" type="pres">
      <dgm:prSet presAssocID="{FE4AD556-F9B2-4408-B9D5-B44CE93EF519}" presName="spaceRect" presStyleCnt="0"/>
      <dgm:spPr/>
    </dgm:pt>
    <dgm:pt modelId="{3E95AD22-DF45-442B-8A8E-45D822DD8557}" type="pres">
      <dgm:prSet presAssocID="{FE4AD556-F9B2-4408-B9D5-B44CE93EF519}" presName="textRect" presStyleLbl="revTx" presStyleIdx="2" presStyleCnt="5">
        <dgm:presLayoutVars>
          <dgm:chMax val="1"/>
          <dgm:chPref val="1"/>
        </dgm:presLayoutVars>
      </dgm:prSet>
      <dgm:spPr/>
    </dgm:pt>
    <dgm:pt modelId="{98E48A6F-F3D0-4CF0-A16E-D0696D0783DE}" type="pres">
      <dgm:prSet presAssocID="{CAD165EA-B5D9-4986-8876-0F0D16DB83D9}" presName="sibTrans" presStyleCnt="0"/>
      <dgm:spPr/>
    </dgm:pt>
    <dgm:pt modelId="{1F004FE7-84F5-491A-BCE1-361E9CE8B32E}" type="pres">
      <dgm:prSet presAssocID="{59F5B25F-BE6E-45E2-BDDE-8140C30BA313}" presName="compNode" presStyleCnt="0"/>
      <dgm:spPr/>
    </dgm:pt>
    <dgm:pt modelId="{5A0F9EE3-E771-49DB-B0D9-B67C0E3C28ED}" type="pres">
      <dgm:prSet presAssocID="{59F5B25F-BE6E-45E2-BDDE-8140C30BA31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E72CF03D-EFA6-46A9-AEF1-84E6DD3703D8}" type="pres">
      <dgm:prSet presAssocID="{59F5B25F-BE6E-45E2-BDDE-8140C30BA313}" presName="spaceRect" presStyleCnt="0"/>
      <dgm:spPr/>
    </dgm:pt>
    <dgm:pt modelId="{19EE804D-34D2-45C7-99BD-1FD59BCF4608}" type="pres">
      <dgm:prSet presAssocID="{59F5B25F-BE6E-45E2-BDDE-8140C30BA313}" presName="textRect" presStyleLbl="revTx" presStyleIdx="3" presStyleCnt="5">
        <dgm:presLayoutVars>
          <dgm:chMax val="1"/>
          <dgm:chPref val="1"/>
        </dgm:presLayoutVars>
      </dgm:prSet>
      <dgm:spPr/>
    </dgm:pt>
    <dgm:pt modelId="{720C4F55-4014-404C-B804-D8B461CCE4E5}" type="pres">
      <dgm:prSet presAssocID="{0E77AA9E-1DE3-46D4-9AB1-D29D6E980AD7}" presName="sibTrans" presStyleCnt="0"/>
      <dgm:spPr/>
    </dgm:pt>
    <dgm:pt modelId="{6B0D1966-1FCA-4D9D-891A-66628FDD9A4A}" type="pres">
      <dgm:prSet presAssocID="{328EFABA-4E15-4A12-93BD-D32CF992DD12}" presName="compNode" presStyleCnt="0"/>
      <dgm:spPr/>
    </dgm:pt>
    <dgm:pt modelId="{E69455CB-CB52-40D1-A3BB-34A580177681}" type="pres">
      <dgm:prSet presAssocID="{328EFABA-4E15-4A12-93BD-D32CF992DD1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ircles with Arrows"/>
        </a:ext>
      </dgm:extLst>
    </dgm:pt>
    <dgm:pt modelId="{1FED376C-5CE9-4574-90C2-4610D93E2E5A}" type="pres">
      <dgm:prSet presAssocID="{328EFABA-4E15-4A12-93BD-D32CF992DD12}" presName="spaceRect" presStyleCnt="0"/>
      <dgm:spPr/>
    </dgm:pt>
    <dgm:pt modelId="{BABA2BC0-6650-4D42-A00B-A5F39B1F5314}" type="pres">
      <dgm:prSet presAssocID="{328EFABA-4E15-4A12-93BD-D32CF992DD12}" presName="textRect" presStyleLbl="revTx" presStyleIdx="4" presStyleCnt="5">
        <dgm:presLayoutVars>
          <dgm:chMax val="1"/>
          <dgm:chPref val="1"/>
        </dgm:presLayoutVars>
      </dgm:prSet>
      <dgm:spPr/>
    </dgm:pt>
  </dgm:ptLst>
  <dgm:cxnLst>
    <dgm:cxn modelId="{2CAC2128-27C5-4341-9ACB-3F4B6380E075}" srcId="{31D2A7F9-0F65-408F-9138-5D47823BBC3D}" destId="{FE4AD556-F9B2-4408-B9D5-B44CE93EF519}" srcOrd="2" destOrd="0" parTransId="{4547B682-0E57-4909-89E7-3F17117F7633}" sibTransId="{CAD165EA-B5D9-4986-8876-0F0D16DB83D9}"/>
    <dgm:cxn modelId="{56094C6D-55D2-49F5-9C72-051161649A3E}" type="presOf" srcId="{FE4AD556-F9B2-4408-B9D5-B44CE93EF519}" destId="{3E95AD22-DF45-442B-8A8E-45D822DD8557}" srcOrd="0" destOrd="0" presId="urn:microsoft.com/office/officeart/2018/2/layout/IconLabelList"/>
    <dgm:cxn modelId="{2C3EFA7A-D841-4EE3-8EBC-89A793962359}" srcId="{31D2A7F9-0F65-408F-9138-5D47823BBC3D}" destId="{60993CAA-AE43-4180-B9FC-193CEE2BE9C6}" srcOrd="1" destOrd="0" parTransId="{EA02FFFC-E0AF-494C-8A81-ED8A6CD48297}" sibTransId="{C53AE9F8-01FD-42E3-AFA7-A280A8A98ABB}"/>
    <dgm:cxn modelId="{DEACF480-F564-4A19-B11B-DE22A1C672DB}" srcId="{31D2A7F9-0F65-408F-9138-5D47823BBC3D}" destId="{328EFABA-4E15-4A12-93BD-D32CF992DD12}" srcOrd="4" destOrd="0" parTransId="{FB5060B9-EA6F-4EE1-A1B9-5AB8BAED414F}" sibTransId="{1B349282-2A3B-4492-B371-9BBDB93F350F}"/>
    <dgm:cxn modelId="{449A6CB8-831D-489C-9344-EF23D74ADC30}" srcId="{31D2A7F9-0F65-408F-9138-5D47823BBC3D}" destId="{59F5B25F-BE6E-45E2-BDDE-8140C30BA313}" srcOrd="3" destOrd="0" parTransId="{D56B3D90-6A3C-4985-B8AE-8D889C777FCB}" sibTransId="{0E77AA9E-1DE3-46D4-9AB1-D29D6E980AD7}"/>
    <dgm:cxn modelId="{9CBE12BE-D765-4C08-89D3-35C8EFB1FC1B}" type="presOf" srcId="{EECA9E80-4520-49B5-BB26-C4CEF5DAEC30}" destId="{2D8E1D64-4D58-446C-AE35-8B439BEA66A6}" srcOrd="0" destOrd="0" presId="urn:microsoft.com/office/officeart/2018/2/layout/IconLabelList"/>
    <dgm:cxn modelId="{A5E03FCB-0F48-4AB8-9E1A-B811B9B39C71}" type="presOf" srcId="{328EFABA-4E15-4A12-93BD-D32CF992DD12}" destId="{BABA2BC0-6650-4D42-A00B-A5F39B1F5314}" srcOrd="0" destOrd="0" presId="urn:microsoft.com/office/officeart/2018/2/layout/IconLabelList"/>
    <dgm:cxn modelId="{FDFAB3CC-E151-4D58-87CE-547E90D1399F}" type="presOf" srcId="{31D2A7F9-0F65-408F-9138-5D47823BBC3D}" destId="{FE49FA16-E167-409B-9F94-62A856E15435}" srcOrd="0" destOrd="0" presId="urn:microsoft.com/office/officeart/2018/2/layout/IconLabelList"/>
    <dgm:cxn modelId="{5EDBCADD-7347-4671-8881-B20CF5302986}" srcId="{31D2A7F9-0F65-408F-9138-5D47823BBC3D}" destId="{EECA9E80-4520-49B5-BB26-C4CEF5DAEC30}" srcOrd="0" destOrd="0" parTransId="{DC7A587C-82B3-4156-9A2A-B0A57AA6F8A4}" sibTransId="{507F7DEE-D629-425A-B9A0-9F29245A5201}"/>
    <dgm:cxn modelId="{52B656E0-8EDE-4B62-A405-619994386C0E}" type="presOf" srcId="{60993CAA-AE43-4180-B9FC-193CEE2BE9C6}" destId="{9FF785BF-B30F-4F6A-9EA3-33CF09E3DB87}" srcOrd="0" destOrd="0" presId="urn:microsoft.com/office/officeart/2018/2/layout/IconLabelList"/>
    <dgm:cxn modelId="{962A97FF-DA1E-4167-B0EC-97955431B9AB}" type="presOf" srcId="{59F5B25F-BE6E-45E2-BDDE-8140C30BA313}" destId="{19EE804D-34D2-45C7-99BD-1FD59BCF4608}" srcOrd="0" destOrd="0" presId="urn:microsoft.com/office/officeart/2018/2/layout/IconLabelList"/>
    <dgm:cxn modelId="{131BE898-43D6-4184-ABBF-2A82A3662AEB}" type="presParOf" srcId="{FE49FA16-E167-409B-9F94-62A856E15435}" destId="{E00ACE3A-C638-4A32-A139-6729B925181A}" srcOrd="0" destOrd="0" presId="urn:microsoft.com/office/officeart/2018/2/layout/IconLabelList"/>
    <dgm:cxn modelId="{856015C9-E6F1-4C69-855B-C6FAEFE5C7C6}" type="presParOf" srcId="{E00ACE3A-C638-4A32-A139-6729B925181A}" destId="{A3A12F97-07CC-456D-B52D-70DDE698F393}" srcOrd="0" destOrd="0" presId="urn:microsoft.com/office/officeart/2018/2/layout/IconLabelList"/>
    <dgm:cxn modelId="{FAB77920-44B5-4C8D-AF7B-0C8084DC5C78}" type="presParOf" srcId="{E00ACE3A-C638-4A32-A139-6729B925181A}" destId="{13A36356-13F3-4175-94FC-7A06FB458C35}" srcOrd="1" destOrd="0" presId="urn:microsoft.com/office/officeart/2018/2/layout/IconLabelList"/>
    <dgm:cxn modelId="{EC457480-1AD6-47DF-AD89-B80D14629DD9}" type="presParOf" srcId="{E00ACE3A-C638-4A32-A139-6729B925181A}" destId="{2D8E1D64-4D58-446C-AE35-8B439BEA66A6}" srcOrd="2" destOrd="0" presId="urn:microsoft.com/office/officeart/2018/2/layout/IconLabelList"/>
    <dgm:cxn modelId="{65032079-F0EB-43F2-95CD-26AB7517C816}" type="presParOf" srcId="{FE49FA16-E167-409B-9F94-62A856E15435}" destId="{FFA9E10C-96AE-43CB-A9D8-D99B4CD31811}" srcOrd="1" destOrd="0" presId="urn:microsoft.com/office/officeart/2018/2/layout/IconLabelList"/>
    <dgm:cxn modelId="{D6067EC7-F0FB-4DFF-B563-014381603569}" type="presParOf" srcId="{FE49FA16-E167-409B-9F94-62A856E15435}" destId="{64C72A14-4A1A-4525-9E15-53E97DF95688}" srcOrd="2" destOrd="0" presId="urn:microsoft.com/office/officeart/2018/2/layout/IconLabelList"/>
    <dgm:cxn modelId="{C9425336-E86C-4334-95AF-BB1D776DE654}" type="presParOf" srcId="{64C72A14-4A1A-4525-9E15-53E97DF95688}" destId="{F92CEC2B-CAE9-4B2E-B761-41FB50E8B6CA}" srcOrd="0" destOrd="0" presId="urn:microsoft.com/office/officeart/2018/2/layout/IconLabelList"/>
    <dgm:cxn modelId="{019CEC21-8679-40BC-8AF7-E2F48364035C}" type="presParOf" srcId="{64C72A14-4A1A-4525-9E15-53E97DF95688}" destId="{81406838-A0E2-40AD-B73B-9996D3C183F2}" srcOrd="1" destOrd="0" presId="urn:microsoft.com/office/officeart/2018/2/layout/IconLabelList"/>
    <dgm:cxn modelId="{54D51A05-2CC5-4B1A-A09D-635D33FB0761}" type="presParOf" srcId="{64C72A14-4A1A-4525-9E15-53E97DF95688}" destId="{9FF785BF-B30F-4F6A-9EA3-33CF09E3DB87}" srcOrd="2" destOrd="0" presId="urn:microsoft.com/office/officeart/2018/2/layout/IconLabelList"/>
    <dgm:cxn modelId="{9A1B4C1C-1A73-457C-9C9F-E4984993411C}" type="presParOf" srcId="{FE49FA16-E167-409B-9F94-62A856E15435}" destId="{46C3DCE1-4027-4D51-BC18-23D658E8558C}" srcOrd="3" destOrd="0" presId="urn:microsoft.com/office/officeart/2018/2/layout/IconLabelList"/>
    <dgm:cxn modelId="{F97B8996-CCC7-4E54-B966-E29AF9BF1249}" type="presParOf" srcId="{FE49FA16-E167-409B-9F94-62A856E15435}" destId="{F9574AFC-F1DF-4DB7-97AD-9EA6A4F09898}" srcOrd="4" destOrd="0" presId="urn:microsoft.com/office/officeart/2018/2/layout/IconLabelList"/>
    <dgm:cxn modelId="{84CC7570-B72D-4F5A-B9FC-FE1A5F8D960E}" type="presParOf" srcId="{F9574AFC-F1DF-4DB7-97AD-9EA6A4F09898}" destId="{5FFC7B5D-8ADB-4E9E-94F3-BC32448044E7}" srcOrd="0" destOrd="0" presId="urn:microsoft.com/office/officeart/2018/2/layout/IconLabelList"/>
    <dgm:cxn modelId="{B9EE9158-4467-4B57-B429-2FE95748CC8A}" type="presParOf" srcId="{F9574AFC-F1DF-4DB7-97AD-9EA6A4F09898}" destId="{95A845B3-8148-4A09-BBFD-AF501049614E}" srcOrd="1" destOrd="0" presId="urn:microsoft.com/office/officeart/2018/2/layout/IconLabelList"/>
    <dgm:cxn modelId="{597392EC-F0D4-48DC-8E8D-D54FA1F3DAE0}" type="presParOf" srcId="{F9574AFC-F1DF-4DB7-97AD-9EA6A4F09898}" destId="{3E95AD22-DF45-442B-8A8E-45D822DD8557}" srcOrd="2" destOrd="0" presId="urn:microsoft.com/office/officeart/2018/2/layout/IconLabelList"/>
    <dgm:cxn modelId="{5E48E1FB-BB96-4D08-8E09-7D15B9B9E21C}" type="presParOf" srcId="{FE49FA16-E167-409B-9F94-62A856E15435}" destId="{98E48A6F-F3D0-4CF0-A16E-D0696D0783DE}" srcOrd="5" destOrd="0" presId="urn:microsoft.com/office/officeart/2018/2/layout/IconLabelList"/>
    <dgm:cxn modelId="{EDCE7E0B-E3EA-402C-B387-5B222F0FC61B}" type="presParOf" srcId="{FE49FA16-E167-409B-9F94-62A856E15435}" destId="{1F004FE7-84F5-491A-BCE1-361E9CE8B32E}" srcOrd="6" destOrd="0" presId="urn:microsoft.com/office/officeart/2018/2/layout/IconLabelList"/>
    <dgm:cxn modelId="{B02CC922-333E-4DF5-BC4C-2D0992C10F64}" type="presParOf" srcId="{1F004FE7-84F5-491A-BCE1-361E9CE8B32E}" destId="{5A0F9EE3-E771-49DB-B0D9-B67C0E3C28ED}" srcOrd="0" destOrd="0" presId="urn:microsoft.com/office/officeart/2018/2/layout/IconLabelList"/>
    <dgm:cxn modelId="{97E730C7-31C9-428A-981D-D96F06D1B865}" type="presParOf" srcId="{1F004FE7-84F5-491A-BCE1-361E9CE8B32E}" destId="{E72CF03D-EFA6-46A9-AEF1-84E6DD3703D8}" srcOrd="1" destOrd="0" presId="urn:microsoft.com/office/officeart/2018/2/layout/IconLabelList"/>
    <dgm:cxn modelId="{78647C2F-84C4-4B1F-BE10-0BE28736CFD3}" type="presParOf" srcId="{1F004FE7-84F5-491A-BCE1-361E9CE8B32E}" destId="{19EE804D-34D2-45C7-99BD-1FD59BCF4608}" srcOrd="2" destOrd="0" presId="urn:microsoft.com/office/officeart/2018/2/layout/IconLabelList"/>
    <dgm:cxn modelId="{2E719AA9-1264-4EFD-BD4E-345FFD4E16BC}" type="presParOf" srcId="{FE49FA16-E167-409B-9F94-62A856E15435}" destId="{720C4F55-4014-404C-B804-D8B461CCE4E5}" srcOrd="7" destOrd="0" presId="urn:microsoft.com/office/officeart/2018/2/layout/IconLabelList"/>
    <dgm:cxn modelId="{2AA128E4-4D79-43F1-A0EC-CB25C74E2820}" type="presParOf" srcId="{FE49FA16-E167-409B-9F94-62A856E15435}" destId="{6B0D1966-1FCA-4D9D-891A-66628FDD9A4A}" srcOrd="8" destOrd="0" presId="urn:microsoft.com/office/officeart/2018/2/layout/IconLabelList"/>
    <dgm:cxn modelId="{0725CF6A-7DF6-428F-B518-E929CFE97557}" type="presParOf" srcId="{6B0D1966-1FCA-4D9D-891A-66628FDD9A4A}" destId="{E69455CB-CB52-40D1-A3BB-34A580177681}" srcOrd="0" destOrd="0" presId="urn:microsoft.com/office/officeart/2018/2/layout/IconLabelList"/>
    <dgm:cxn modelId="{36E3C6A6-5273-4CB5-AE3A-CA4436310B06}" type="presParOf" srcId="{6B0D1966-1FCA-4D9D-891A-66628FDD9A4A}" destId="{1FED376C-5CE9-4574-90C2-4610D93E2E5A}" srcOrd="1" destOrd="0" presId="urn:microsoft.com/office/officeart/2018/2/layout/IconLabelList"/>
    <dgm:cxn modelId="{F69611CF-834D-46D5-B186-D8A843950EBC}" type="presParOf" srcId="{6B0D1966-1FCA-4D9D-891A-66628FDD9A4A}" destId="{BABA2BC0-6650-4D42-A00B-A5F39B1F5314}"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12F97-07CC-456D-B52D-70DDE698F393}">
      <dsp:nvSpPr>
        <dsp:cNvPr id="0" name=""/>
        <dsp:cNvSpPr/>
      </dsp:nvSpPr>
      <dsp:spPr>
        <a:xfrm>
          <a:off x="622800" y="1275667"/>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8E1D64-4D58-446C-AE35-8B439BEA66A6}">
      <dsp:nvSpPr>
        <dsp:cNvPr id="0" name=""/>
        <dsp:cNvSpPr/>
      </dsp:nvSpPr>
      <dsp:spPr>
        <a:xfrm>
          <a:off x="12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IN" sz="2300" kern="1200" dirty="0"/>
            <a:t>Data </a:t>
          </a:r>
          <a:endParaRPr lang="en-US" sz="2300" kern="1200" dirty="0"/>
        </a:p>
      </dsp:txBody>
      <dsp:txXfrm>
        <a:off x="127800" y="2355670"/>
        <a:ext cx="1800000" cy="720000"/>
      </dsp:txXfrm>
    </dsp:sp>
    <dsp:sp modelId="{F92CEC2B-CAE9-4B2E-B761-41FB50E8B6CA}">
      <dsp:nvSpPr>
        <dsp:cNvPr id="0" name=""/>
        <dsp:cNvSpPr/>
      </dsp:nvSpPr>
      <dsp:spPr>
        <a:xfrm>
          <a:off x="2737800" y="1275667"/>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F785BF-B30F-4F6A-9EA3-33CF09E3DB87}">
      <dsp:nvSpPr>
        <dsp:cNvPr id="0" name=""/>
        <dsp:cNvSpPr/>
      </dsp:nvSpPr>
      <dsp:spPr>
        <a:xfrm>
          <a:off x="2242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IN" sz="2300" kern="1200" dirty="0"/>
            <a:t>Feature Selection </a:t>
          </a:r>
          <a:endParaRPr lang="en-US" sz="2300" kern="1200" dirty="0"/>
        </a:p>
      </dsp:txBody>
      <dsp:txXfrm>
        <a:off x="2242800" y="2355670"/>
        <a:ext cx="1800000" cy="720000"/>
      </dsp:txXfrm>
    </dsp:sp>
    <dsp:sp modelId="{5FFC7B5D-8ADB-4E9E-94F3-BC32448044E7}">
      <dsp:nvSpPr>
        <dsp:cNvPr id="0" name=""/>
        <dsp:cNvSpPr/>
      </dsp:nvSpPr>
      <dsp:spPr>
        <a:xfrm>
          <a:off x="4852800" y="1275667"/>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95AD22-DF45-442B-8A8E-45D822DD8557}">
      <dsp:nvSpPr>
        <dsp:cNvPr id="0" name=""/>
        <dsp:cNvSpPr/>
      </dsp:nvSpPr>
      <dsp:spPr>
        <a:xfrm>
          <a:off x="435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IN" sz="2300" kern="1200" dirty="0"/>
            <a:t>Algorithm</a:t>
          </a:r>
          <a:endParaRPr lang="en-US" sz="2300" kern="1200" dirty="0"/>
        </a:p>
      </dsp:txBody>
      <dsp:txXfrm>
        <a:off x="4357800" y="2355670"/>
        <a:ext cx="1800000" cy="720000"/>
      </dsp:txXfrm>
    </dsp:sp>
    <dsp:sp modelId="{5A0F9EE3-E771-49DB-B0D9-B67C0E3C28ED}">
      <dsp:nvSpPr>
        <dsp:cNvPr id="0" name=""/>
        <dsp:cNvSpPr/>
      </dsp:nvSpPr>
      <dsp:spPr>
        <a:xfrm>
          <a:off x="6967800" y="1275667"/>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EE804D-34D2-45C7-99BD-1FD59BCF4608}">
      <dsp:nvSpPr>
        <dsp:cNvPr id="0" name=""/>
        <dsp:cNvSpPr/>
      </dsp:nvSpPr>
      <dsp:spPr>
        <a:xfrm>
          <a:off x="6472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IN" sz="2300" kern="1200" dirty="0"/>
            <a:t>Findings</a:t>
          </a:r>
          <a:endParaRPr lang="en-US" sz="2300" kern="1200" dirty="0"/>
        </a:p>
      </dsp:txBody>
      <dsp:txXfrm>
        <a:off x="6472800" y="2355670"/>
        <a:ext cx="1800000" cy="720000"/>
      </dsp:txXfrm>
    </dsp:sp>
    <dsp:sp modelId="{E69455CB-CB52-40D1-A3BB-34A580177681}">
      <dsp:nvSpPr>
        <dsp:cNvPr id="0" name=""/>
        <dsp:cNvSpPr/>
      </dsp:nvSpPr>
      <dsp:spPr>
        <a:xfrm>
          <a:off x="9082800" y="1275667"/>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BA2BC0-6650-4D42-A00B-A5F39B1F5314}">
      <dsp:nvSpPr>
        <dsp:cNvPr id="0" name=""/>
        <dsp:cNvSpPr/>
      </dsp:nvSpPr>
      <dsp:spPr>
        <a:xfrm>
          <a:off x="8587800" y="235567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IN" sz="2300" kern="1200" dirty="0"/>
            <a:t>Ethical Concerns</a:t>
          </a:r>
          <a:endParaRPr lang="en-US" sz="2300" kern="1200" dirty="0"/>
        </a:p>
      </dsp:txBody>
      <dsp:txXfrm>
        <a:off x="8587800" y="2355670"/>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587A5D-DAB7-4446-B2BF-4B30A449B3F9}" type="datetimeFigureOut">
              <a:rPr lang="en-IN" smtClean="0"/>
              <a:t>14/07/24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542FAB-6E87-4F40-9254-5C56045F6AB4}" type="slidenum">
              <a:rPr lang="en-IN" smtClean="0"/>
              <a:t>‹#›</a:t>
            </a:fld>
            <a:endParaRPr lang="en-IN"/>
          </a:p>
        </p:txBody>
      </p:sp>
    </p:spTree>
    <p:extLst>
      <p:ext uri="{BB962C8B-B14F-4D97-AF65-F5344CB8AC3E}">
        <p14:creationId xmlns:p14="http://schemas.microsoft.com/office/powerpoint/2010/main" val="1207185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Welcome to our presentation on "Earnings Enigma: Cracking the Code with K-NN and Naïve Bayes." I’m Aloysius Peter.</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And I’m Varun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Vedula</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We're excited to take you through our capstone project, completed at Kent State University as part of our Business Analytics program. We'll demonstrate how our models can be applied in real-world business scenarios.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1</a:t>
            </a:fld>
            <a:endParaRPr lang="en-IN"/>
          </a:p>
        </p:txBody>
      </p:sp>
    </p:spTree>
    <p:extLst>
      <p:ext uri="{BB962C8B-B14F-4D97-AF65-F5344CB8AC3E}">
        <p14:creationId xmlns:p14="http://schemas.microsoft.com/office/powerpoint/2010/main" val="843469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Our project's goal is to develop a machine learning model that accurately predicts if an individual earns more or less than $50,000 annually, using socio-economic and demographic factors.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These insights are crucial for businesses such as financial institutions for loan approvals, marketing companies for targeted campaigns, and policymakers for economic planning. Accurate income predictions can significantly enhance decision-making processes. </a:t>
            </a: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Our approach involves understanding the data, identifying influencing factors, building predictive models using KNN and Naïve Bayes, and evaluating their performance. We aim to create a robust model that provides accurate predictions.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Additionally, we address any ethical concerns to ensure fair and responsible use of our prediction model. This is crucial for businesses to maintain public trust and comply with regulations.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2</a:t>
            </a:fld>
            <a:endParaRPr lang="en-IN"/>
          </a:p>
        </p:txBody>
      </p:sp>
    </p:spTree>
    <p:extLst>
      <p:ext uri="{BB962C8B-B14F-4D97-AF65-F5344CB8AC3E}">
        <p14:creationId xmlns:p14="http://schemas.microsoft.com/office/powerpoint/2010/main" val="3216667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 dataset, sourced from Kaggle, includes 15 variables: 14 supporting variables and 1 output variable, with 32,561 rows. This diverse dataset helps in creating a comprehensive model.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It contains 6 quantitative, 1 binary, and 7 qualitative variables. The output variable is 'Income,' a binary classification indicating whether an individual earns more or less than $50,000 annually. This dataset can help businesses tailor their services based on income predictions.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addressed missing values, which accounted for 0.87% of the total data. These lines were deleted, and missing data were replaced with 'NA' for better handling in R. Ensuring data quality is essential for accurate model training.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also corrected the format of numerical variables that were mistakenly formatted as characters. This step was crucial to ensure that our data was correctly interpreted by the model.</a:t>
            </a: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Slide 6: Descriptive Statistics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Descriptive statistics summarize the dataset's characteristics, helping us understand it better. We used summary statistics, scatter plots, bar plots, and box plots to visualize and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 data.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These visualizations revealed insights such as the working-class population's income distribution and the impact of education on income. For instance, a marketing company can use these insights to tailor advertisements based on education levels.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used One-Hot Encoding to convert categorical variables into dummy variables, allowing the model to understand their numerical importance. This step was vital for accurate model training.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also applied normalization to ensure all variable scales are uniform, making it easier for the model to evaluate each variable's significance. This process helps in improving the model's performance, especially in financial risk assessments.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3</a:t>
            </a:fld>
            <a:endParaRPr lang="en-IN"/>
          </a:p>
        </p:txBody>
      </p:sp>
    </p:spTree>
    <p:extLst>
      <p:ext uri="{BB962C8B-B14F-4D97-AF65-F5344CB8AC3E}">
        <p14:creationId xmlns:p14="http://schemas.microsoft.com/office/powerpoint/2010/main" val="2870843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used correlation plots and pair plots to identify relationships between variables, helping us focus on strong predictors of income. This analysis was key to selecting relevant features.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Additionally, we employed backward stepwise regression and Principal Component Analysis (PCA) to simplify our model while maintaining predictive power. For example, a bank can use these techniques to determine the most critical factors influencing loan defaults.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4</a:t>
            </a:fld>
            <a:endParaRPr lang="en-IN"/>
          </a:p>
        </p:txBody>
      </p:sp>
    </p:spTree>
    <p:extLst>
      <p:ext uri="{BB962C8B-B14F-4D97-AF65-F5344CB8AC3E}">
        <p14:creationId xmlns:p14="http://schemas.microsoft.com/office/powerpoint/2010/main" val="102093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Varun : Correlation Plot - </a:t>
            </a:r>
            <a:r>
              <a:rPr lang="en-IN" sz="1800" kern="100" dirty="0">
                <a:solidFill>
                  <a:srgbClr val="000000"/>
                </a:solidFill>
                <a:effectLst/>
                <a:latin typeface="Aptos" panose="020B0004020202020204" pitchFamily="34" charset="0"/>
                <a:ea typeface="Aptos" panose="020B0004020202020204" pitchFamily="34" charset="0"/>
                <a:cs typeface="Arial" panose="020B0604020202020204" pitchFamily="34" charset="0"/>
              </a:rPr>
              <a:t>It is a graphical representation that shows the relation between multiple variables amongst them. It is a matrix format where the correlation indicates the strength and how correlated they are within them. This representation shows which variables are heavily correlated. According to the correlation plot we have selected the variables Age, and Hours. Per. Week, Work class, and Education.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00" dirty="0">
                <a:solidFill>
                  <a:srgbClr val="000000"/>
                </a:solidFill>
                <a:effectLst/>
                <a:latin typeface="Aptos" panose="020B0004020202020204" pitchFamily="34" charset="0"/>
                <a:ea typeface="Aptos" panose="020B0004020202020204" pitchFamily="34" charset="0"/>
                <a:cs typeface="Arial" panose="020B0604020202020204" pitchFamily="34" charset="0"/>
              </a:rPr>
              <a:t>Peter : Pair Matrix Plot - This plot visualizes the pairwise relationship between the variables, it graphically and numerically offers a comprehensive view of correlation, distribution, and weightage of each variable amongst the variables, where the correlation plot just shows the visual correlation coefficient of the variables amongst itself.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kern="1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5"/>
          </p:nvPr>
        </p:nvSpPr>
        <p:spPr/>
        <p:txBody>
          <a:bodyPr/>
          <a:lstStyle/>
          <a:p>
            <a:fld id="{3F542FAB-6E87-4F40-9254-5C56045F6AB4}" type="slidenum">
              <a:rPr lang="en-IN" smtClean="0"/>
              <a:t>5</a:t>
            </a:fld>
            <a:endParaRPr lang="en-IN"/>
          </a:p>
        </p:txBody>
      </p:sp>
    </p:spTree>
    <p:extLst>
      <p:ext uri="{BB962C8B-B14F-4D97-AF65-F5344CB8AC3E}">
        <p14:creationId xmlns:p14="http://schemas.microsoft.com/office/powerpoint/2010/main" val="3836349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Peter : read the para above</a:t>
            </a:r>
          </a:p>
        </p:txBody>
      </p:sp>
      <p:sp>
        <p:nvSpPr>
          <p:cNvPr id="4" name="Slide Number Placeholder 3"/>
          <p:cNvSpPr>
            <a:spLocks noGrp="1"/>
          </p:cNvSpPr>
          <p:nvPr>
            <p:ph type="sldNum" sz="quarter" idx="5"/>
          </p:nvPr>
        </p:nvSpPr>
        <p:spPr/>
        <p:txBody>
          <a:bodyPr/>
          <a:lstStyle/>
          <a:p>
            <a:fld id="{3F542FAB-6E87-4F40-9254-5C56045F6AB4}" type="slidenum">
              <a:rPr lang="en-IN" smtClean="0"/>
              <a:t>6</a:t>
            </a:fld>
            <a:endParaRPr lang="en-IN"/>
          </a:p>
        </p:txBody>
      </p:sp>
    </p:spTree>
    <p:extLst>
      <p:ext uri="{BB962C8B-B14F-4D97-AF65-F5344CB8AC3E}">
        <p14:creationId xmlns:p14="http://schemas.microsoft.com/office/powerpoint/2010/main" val="3464940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Varun: According to the PCA, the variables are scattered and some overlap. Choosing variables that are aligned in the same direction or that overlap won't contribute much. Instead, we should select the variables that are farthest apart and not overlapping. The left chart on the slide is the PCA for all variables and the right chart is the PCA only for Selected Variables. The correct PCA plot for the chosen variables clearly shows the differences among them.</a:t>
            </a:r>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7</a:t>
            </a:fld>
            <a:endParaRPr lang="en-IN"/>
          </a:p>
        </p:txBody>
      </p:sp>
    </p:spTree>
    <p:extLst>
      <p:ext uri="{BB962C8B-B14F-4D97-AF65-F5344CB8AC3E}">
        <p14:creationId xmlns:p14="http://schemas.microsoft.com/office/powerpoint/2010/main" val="2883500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Algorithms best suited for this project are </a:t>
            </a:r>
            <a:r>
              <a:rPr lang="en-US" dirty="0" err="1"/>
              <a:t>Knn</a:t>
            </a:r>
            <a:r>
              <a:rPr lang="en-US" dirty="0"/>
              <a:t> and naïve bayes </a:t>
            </a:r>
            <a:r>
              <a:rPr lang="en-US" dirty="0" err="1"/>
              <a:t>bcoz</a:t>
            </a:r>
            <a:r>
              <a:rPr lang="en-US" dirty="0"/>
              <a:t> they are classification and predictive models.</a:t>
            </a:r>
          </a:p>
        </p:txBody>
      </p:sp>
      <p:sp>
        <p:nvSpPr>
          <p:cNvPr id="4" name="Slide Number Placeholder 3"/>
          <p:cNvSpPr>
            <a:spLocks noGrp="1"/>
          </p:cNvSpPr>
          <p:nvPr>
            <p:ph type="sldNum" sz="quarter" idx="5"/>
          </p:nvPr>
        </p:nvSpPr>
        <p:spPr/>
        <p:txBody>
          <a:bodyPr/>
          <a:lstStyle/>
          <a:p>
            <a:fld id="{3F542FAB-6E87-4F40-9254-5C56045F6AB4}" type="slidenum">
              <a:rPr lang="en-IN" smtClean="0"/>
              <a:t>8</a:t>
            </a:fld>
            <a:endParaRPr lang="en-IN"/>
          </a:p>
        </p:txBody>
      </p:sp>
    </p:spTree>
    <p:extLst>
      <p:ext uri="{BB962C8B-B14F-4D97-AF65-F5344CB8AC3E}">
        <p14:creationId xmlns:p14="http://schemas.microsoft.com/office/powerpoint/2010/main" val="2291557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KNN, or K-Nearest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Neighbors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was one of the algorithms we used. We tested it with different values of K: 5, 7, and 9, to find the optimal parameter. This process involved hyperparameter tuning to improve accuracy.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Our results showed varying accuracy, recall, precision, specificity, and F1 scores, with K=9 providing the best overall performance. This highlighted the importance of selecting the right K value for applications like customer segmentation in retail.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9</a:t>
            </a:fld>
            <a:endParaRPr lang="en-IN"/>
          </a:p>
        </p:txBody>
      </p:sp>
    </p:spTree>
    <p:extLst>
      <p:ext uri="{BB962C8B-B14F-4D97-AF65-F5344CB8AC3E}">
        <p14:creationId xmlns:p14="http://schemas.microsoft.com/office/powerpoint/2010/main" val="3525600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also used the Naïve Bayes algorithm. It performed well on recall but had lower accuracy and precision compared to KNN. This algorithm helped us understand the trade-offs between different evaluation metrics.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 evaluation included confusion matrices and ROC curves, which helped us understand the strengths and weaknesses of the model. For example, a healthcare provider could use this model to identify high-risk patients based on income and other factors.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10</a:t>
            </a:fld>
            <a:endParaRPr lang="en-IN"/>
          </a:p>
        </p:txBody>
      </p:sp>
    </p:spTree>
    <p:extLst>
      <p:ext uri="{BB962C8B-B14F-4D97-AF65-F5344CB8AC3E}">
        <p14:creationId xmlns:p14="http://schemas.microsoft.com/office/powerpoint/2010/main" val="2025821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For KNN, the best accuracy achieved was 79.17%, with a recall of 41.50%, precision of 63.40%, specificity of 91.59%, and an F1 score of 50.10%. These results demonstrated the effectiveness of the KNN algorithm for applications like personalized marketing.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For Naïve Bayes, the accuracy was 34.53%, with a high recall of 96.90%, precision of 26.80%, specificity of 26.80%, and an F1 score of 41.96%. This showed that while Naïve Bayes excelled in recall, it had trade-offs in other metrics, making it suitable for use cases like fraud detection where recall is critical.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11</a:t>
            </a:fld>
            <a:endParaRPr lang="en-IN"/>
          </a:p>
        </p:txBody>
      </p:sp>
    </p:spTree>
    <p:extLst>
      <p:ext uri="{BB962C8B-B14F-4D97-AF65-F5344CB8AC3E}">
        <p14:creationId xmlns:p14="http://schemas.microsoft.com/office/powerpoint/2010/main" val="2000667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considered fairness, bias, transparency, data privacy, informed consent, accountability, and the balance between benefit and harm. Addressing these ethical concerns was essential for our project.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Our model’s ethical concerns were minimal as the data was sourced from Kaggle with free usage rights and proper consent from individuals. Ensuring ethical use of data is critical for maintaining public trust and complying with regulations, especially in sensitive areas like financial services.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r>
              <a:rPr lang="en-US" dirty="0"/>
              <a:t>Conclusion:</a:t>
            </a:r>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In conclusion, while KNN showed better overall accuracy, Naïve Bayes excelled in recall. Both models provide valuable insights for predicting income levels, highlighting the strengths of different machine learning algorithms. We will be recommending KNN for this model as this models metrics is more suited for the data we have selected and the model we are trying to achieve.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Varun:</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We hope our project demonstrates the practical applications of machine learning in business analytics and its potential for cost-effective data-driven decision-making. Our approach shows how machine learning can be used effectively even with budget constraints, benefiting various industries like finance, marketing, and healthcare.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3F542FAB-6E87-4F40-9254-5C56045F6AB4}" type="slidenum">
              <a:rPr lang="en-IN" smtClean="0"/>
              <a:t>12</a:t>
            </a:fld>
            <a:endParaRPr lang="en-IN"/>
          </a:p>
        </p:txBody>
      </p:sp>
    </p:spTree>
    <p:extLst>
      <p:ext uri="{BB962C8B-B14F-4D97-AF65-F5344CB8AC3E}">
        <p14:creationId xmlns:p14="http://schemas.microsoft.com/office/powerpoint/2010/main" val="1791367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5A572-D638-3F26-E530-107FCFCDCD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BDB34C-872C-8FED-5CA5-CCBF00D01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C2ED43-607C-7ECC-ACB7-85D592465D40}"/>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C472E9E0-F25D-F54E-725C-57397FC4C2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B1C2D-3C9A-A815-7506-D5791D6794EF}"/>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96123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C95B-135F-66A2-C65C-0A6DF3004D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E8F121-C721-FACF-280B-63ECE3BFD7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86E70-962C-B4DF-CC10-1F4C16969214}"/>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E1E97D6E-7A51-E884-DDDB-32E79DE422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6B8574-CB6A-34F5-9E7A-519BBA00A8FF}"/>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574765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1EE52-4BD1-8187-39AA-CD3C8A9293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5EB374-5E0F-4E48-EA30-8E266AC234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D4C75-035A-64D3-B067-7F80804B2BC4}"/>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598D2D82-129B-E0C5-FBEC-D612FB7DD4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CE4526-8E79-ECFF-785A-4E8A097AB6EF}"/>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1638912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557-D9B0-396F-2481-A2B0AED1AB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4A346B-D06C-2545-C980-C9DD6CD56B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ABA770-DDF8-7E0B-20F0-F096C38A68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639881-ADB9-2ED3-DA08-078A48356A2D}"/>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6" name="Footer Placeholder 5">
            <a:extLst>
              <a:ext uri="{FF2B5EF4-FFF2-40B4-BE49-F238E27FC236}">
                <a16:creationId xmlns:a16="http://schemas.microsoft.com/office/drawing/2014/main" id="{DC62C3B0-CE2D-D816-354E-3E22429803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A37A14-5C74-8E83-711B-DED28207FB8A}"/>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4294315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2C87F-3070-0946-2786-134E64DD3B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E6EBFF-17C5-C235-2804-13D5EAF16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D165FB-4286-C3BC-44A1-DF2E05782C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E4E431-D609-B8E3-787F-EEC522B8B0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BAAD15-073C-C7CB-4A7B-59314D4E0F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36692D-4AB0-5DD5-0828-97975C359D4E}"/>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8" name="Footer Placeholder 7">
            <a:extLst>
              <a:ext uri="{FF2B5EF4-FFF2-40B4-BE49-F238E27FC236}">
                <a16:creationId xmlns:a16="http://schemas.microsoft.com/office/drawing/2014/main" id="{123E8C3E-E260-FAC9-5E66-DA76430B7F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4EA0A3-9B2D-A208-72DE-DDD0F9A5EE44}"/>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3940458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12C1-91B6-DFA7-F244-CD3F9B67D03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EF214A-6032-A434-21EC-D32C19727725}"/>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4" name="Footer Placeholder 3">
            <a:extLst>
              <a:ext uri="{FF2B5EF4-FFF2-40B4-BE49-F238E27FC236}">
                <a16:creationId xmlns:a16="http://schemas.microsoft.com/office/drawing/2014/main" id="{5CC1CBA9-A81C-9C03-8E67-F514E31020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67DAE2-51C3-D689-6898-D290AC384B23}"/>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2792197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95D18C-5919-E6FE-205A-EBA2433BC164}"/>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3" name="Footer Placeholder 2">
            <a:extLst>
              <a:ext uri="{FF2B5EF4-FFF2-40B4-BE49-F238E27FC236}">
                <a16:creationId xmlns:a16="http://schemas.microsoft.com/office/drawing/2014/main" id="{D67DF0BE-51DB-4613-1CEE-8DDC8A4A7D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36608B-A713-1B41-DE13-48A46781B32F}"/>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3356115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8CEE-E455-60A9-85EE-AFA49A3CF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9B073D-49CD-D17D-FE71-26285AED5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E9E7D0-4B38-F5E7-652D-0431550FE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A6054-3C9E-9D12-D30F-C744B444CB12}"/>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6" name="Footer Placeholder 5">
            <a:extLst>
              <a:ext uri="{FF2B5EF4-FFF2-40B4-BE49-F238E27FC236}">
                <a16:creationId xmlns:a16="http://schemas.microsoft.com/office/drawing/2014/main" id="{6FA5775C-587D-92BA-9A6F-7DFE34B60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4F783E-6010-C70F-4ACB-54C260CF4470}"/>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298499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646C-C6E7-6556-D488-7A4ADB9DA6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CC1AA6-69FB-E815-21DF-4CAC3F666A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77F5E5-EBAD-33A5-A219-BF5FF0E43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A3C396-E01E-1C43-ED18-05D023869419}"/>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6" name="Footer Placeholder 5">
            <a:extLst>
              <a:ext uri="{FF2B5EF4-FFF2-40B4-BE49-F238E27FC236}">
                <a16:creationId xmlns:a16="http://schemas.microsoft.com/office/drawing/2014/main" id="{5128F976-80FD-2BE5-9C93-75A9D52DBB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58040B-6BC3-4ED8-525B-9268F0B430D3}"/>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123503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5064-AF5F-63DE-5009-6F7D2F0F9A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0B1566-F801-22BA-E5A5-8D3BEEDB3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44111-4827-8BC1-2261-8D5EF537694A}"/>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D86DF2B0-3B31-C676-1EEF-7D8B8BC0E4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AFD776-BFCB-4F84-CE5E-DDF92E06B387}"/>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410136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17C38C-F003-07E1-B8FC-9C7A7172BB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B3A63-3CA2-A508-889A-BD1639FC3A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5EC96-4071-F9AE-687D-8619BEDA30C8}"/>
              </a:ext>
            </a:extLst>
          </p:cNvPr>
          <p:cNvSpPr>
            <a:spLocks noGrp="1"/>
          </p:cNvSpPr>
          <p:nvPr>
            <p:ph type="dt" sz="half" idx="10"/>
          </p:nvPr>
        </p:nvSpPr>
        <p:spPr/>
        <p:txBody>
          <a:body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02CDE197-ADD0-7804-62DD-63597BC64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31F40C-EFB3-1834-5065-94D92D09E325}"/>
              </a:ext>
            </a:extLst>
          </p:cNvPr>
          <p:cNvSpPr>
            <a:spLocks noGrp="1"/>
          </p:cNvSpPr>
          <p:nvPr>
            <p:ph type="sldNum" sz="quarter" idx="12"/>
          </p:nvPr>
        </p:nvSpPr>
        <p:spPr/>
        <p:txBody>
          <a:bodyPr/>
          <a:lstStyle/>
          <a:p>
            <a:fld id="{EDB11A45-3495-4A8D-848F-58D87A3CF426}" type="slidenum">
              <a:rPr lang="en-IN" smtClean="0"/>
              <a:t>‹#›</a:t>
            </a:fld>
            <a:endParaRPr lang="en-IN"/>
          </a:p>
        </p:txBody>
      </p:sp>
    </p:spTree>
    <p:extLst>
      <p:ext uri="{BB962C8B-B14F-4D97-AF65-F5344CB8AC3E}">
        <p14:creationId xmlns:p14="http://schemas.microsoft.com/office/powerpoint/2010/main" val="2062877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22E3EA-6409-036C-C4AA-81390437A4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5B20FE-76D3-CEFE-D292-F7BF227762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C41478-970D-5BDC-56A4-85F96B02BD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ED5B37-4222-4185-B6A5-457CB96BF9B4}" type="datetimeFigureOut">
              <a:rPr lang="en-IN" smtClean="0"/>
              <a:t>14/07/24</a:t>
            </a:fld>
            <a:endParaRPr lang="en-IN"/>
          </a:p>
        </p:txBody>
      </p:sp>
      <p:sp>
        <p:nvSpPr>
          <p:cNvPr id="5" name="Footer Placeholder 4">
            <a:extLst>
              <a:ext uri="{FF2B5EF4-FFF2-40B4-BE49-F238E27FC236}">
                <a16:creationId xmlns:a16="http://schemas.microsoft.com/office/drawing/2014/main" id="{4947C68A-E071-3E14-567E-26F7BB47CC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38E4632-C5E4-74FB-86D3-A12BA8CA2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B11A45-3495-4A8D-848F-58D87A3CF426}" type="slidenum">
              <a:rPr lang="en-IN" smtClean="0"/>
              <a:t>‹#›</a:t>
            </a:fld>
            <a:endParaRPr lang="en-IN"/>
          </a:p>
        </p:txBody>
      </p:sp>
    </p:spTree>
    <p:extLst>
      <p:ext uri="{BB962C8B-B14F-4D97-AF65-F5344CB8AC3E}">
        <p14:creationId xmlns:p14="http://schemas.microsoft.com/office/powerpoint/2010/main" val="2705189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1.png"/><Relationship Id="rId2" Type="http://schemas.openxmlformats.org/officeDocument/2006/relationships/audio" Target="../media/media3.m4a"/><Relationship Id="rId16" Type="http://schemas.openxmlformats.org/officeDocument/2006/relationships/image" Target="../media/image23.svg"/><Relationship Id="rId1" Type="http://schemas.microsoft.com/office/2007/relationships/media" Target="../media/media3.m4a"/><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notesSlide" Target="../notesSlides/notesSlide3.xml"/><Relationship Id="rId9" Type="http://schemas.openxmlformats.org/officeDocument/2006/relationships/image" Target="../media/image16.png"/><Relationship Id="rId14" Type="http://schemas.openxmlformats.org/officeDocument/2006/relationships/image" Target="../media/image21.svg"/></Relationships>
</file>

<file path=ppt/slides/_rels/slide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1.png"/><Relationship Id="rId3" Type="http://schemas.openxmlformats.org/officeDocument/2006/relationships/slideLayout" Target="../slideLayouts/slideLayout2.xml"/><Relationship Id="rId7" Type="http://schemas.openxmlformats.org/officeDocument/2006/relationships/image" Target="../media/image22.png"/><Relationship Id="rId12" Type="http://schemas.openxmlformats.org/officeDocument/2006/relationships/image" Target="../media/image29.sv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5.svg"/><Relationship Id="rId11" Type="http://schemas.openxmlformats.org/officeDocument/2006/relationships/image" Target="../media/image28.png"/><Relationship Id="rId5" Type="http://schemas.openxmlformats.org/officeDocument/2006/relationships/image" Target="../media/image24.png"/><Relationship Id="rId10" Type="http://schemas.openxmlformats.org/officeDocument/2006/relationships/image" Target="../media/image27.svg"/><Relationship Id="rId4" Type="http://schemas.openxmlformats.org/officeDocument/2006/relationships/notesSlide" Target="../notesSlides/notesSlide4.xml"/><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6.m4a"/><Relationship Id="rId1" Type="http://schemas.microsoft.com/office/2007/relationships/media" Target="../media/media6.m4a"/><Relationship Id="rId6" Type="http://schemas.microsoft.com/office/2007/relationships/hdphoto" Target="../media/hdphoto2.wdp"/><Relationship Id="rId5" Type="http://schemas.openxmlformats.org/officeDocument/2006/relationships/image" Target="../media/image3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slideLayout" Target="../slideLayouts/slideLayout2.xml"/><Relationship Id="rId7" Type="http://schemas.openxmlformats.org/officeDocument/2006/relationships/image" Target="../media/image34.png"/><Relationship Id="rId2" Type="http://schemas.openxmlformats.org/officeDocument/2006/relationships/audio" Target="../media/media7.m4a"/><Relationship Id="rId1" Type="http://schemas.microsoft.com/office/2007/relationships/media" Target="../media/media7.m4a"/><Relationship Id="rId6" Type="http://schemas.microsoft.com/office/2007/relationships/hdphoto" Target="../media/hdphoto3.wdp"/><Relationship Id="rId5" Type="http://schemas.openxmlformats.org/officeDocument/2006/relationships/image" Target="../media/image33.png"/><Relationship Id="rId4" Type="http://schemas.openxmlformats.org/officeDocument/2006/relationships/notesSlide" Target="../notesSlides/notesSlide7.xml"/><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slideLayout" Target="../slideLayouts/slideLayout2.xml"/><Relationship Id="rId7" Type="http://schemas.openxmlformats.org/officeDocument/2006/relationships/image" Target="../media/image37.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notesSlide" Target="../notesSlides/notesSlide8.xml"/><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slideLayout" Target="../slideLayouts/slideLayout2.xml"/><Relationship Id="rId7" Type="http://schemas.openxmlformats.org/officeDocument/2006/relationships/image" Target="../media/image41.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notesSlide" Target="../notesSlides/notesSlide9.xml"/><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slideLayout" Target="../slideLayouts/slideLayout2.xml"/><Relationship Id="rId7" Type="http://schemas.openxmlformats.org/officeDocument/2006/relationships/image" Target="../media/image45.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1.png"/><Relationship Id="rId4" Type="http://schemas.openxmlformats.org/officeDocument/2006/relationships/notesSlide" Target="../notesSlides/notesSlide10.xml"/><Relationship Id="rId9"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slideLayout" Target="../slideLayouts/slideLayout2.xml"/><Relationship Id="rId7" Type="http://schemas.openxmlformats.org/officeDocument/2006/relationships/image" Target="../media/image37.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notesSlide" Target="../notesSlides/notesSlide11.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3" Type="http://schemas.openxmlformats.org/officeDocument/2006/relationships/slideLayout" Target="../slideLayouts/slideLayout2.xml"/><Relationship Id="rId7" Type="http://schemas.openxmlformats.org/officeDocument/2006/relationships/image" Target="../media/image50.png"/><Relationship Id="rId12" Type="http://schemas.openxmlformats.org/officeDocument/2006/relationships/image" Target="../media/image55.svg"/><Relationship Id="rId17" Type="http://schemas.openxmlformats.org/officeDocument/2006/relationships/image" Target="../media/image1.png"/><Relationship Id="rId2" Type="http://schemas.openxmlformats.org/officeDocument/2006/relationships/audio" Target="../media/media12.m4a"/><Relationship Id="rId16" Type="http://schemas.openxmlformats.org/officeDocument/2006/relationships/image" Target="../media/image59.svg"/><Relationship Id="rId1" Type="http://schemas.microsoft.com/office/2007/relationships/media" Target="../media/media12.m4a"/><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notesSlide" Target="../notesSlides/notesSlide12.xml"/><Relationship Id="rId9" Type="http://schemas.openxmlformats.org/officeDocument/2006/relationships/image" Target="../media/image52.png"/><Relationship Id="rId14"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A6FE8BA-0868-78B9-15EB-759BC6FA4106}"/>
              </a:ext>
            </a:extLst>
          </p:cNvPr>
          <p:cNvSpPr/>
          <p:nvPr/>
        </p:nvSpPr>
        <p:spPr>
          <a:xfrm>
            <a:off x="590143" y="3896148"/>
            <a:ext cx="10738257" cy="115125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A2B4FC8D-C4CE-8428-8D61-AE9CAD389C1B}"/>
              </a:ext>
            </a:extLst>
          </p:cNvPr>
          <p:cNvSpPr/>
          <p:nvPr/>
        </p:nvSpPr>
        <p:spPr>
          <a:xfrm>
            <a:off x="590143" y="1659050"/>
            <a:ext cx="10738257" cy="115125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3BA125B7-570A-2789-8FF6-415F430394C5}"/>
              </a:ext>
            </a:extLst>
          </p:cNvPr>
          <p:cNvSpPr>
            <a:spLocks noGrp="1" noChangeArrowheads="1"/>
          </p:cNvSpPr>
          <p:nvPr>
            <p:ph type="ctrTitle"/>
          </p:nvPr>
        </p:nvSpPr>
        <p:spPr bwMode="auto">
          <a:xfrm>
            <a:off x="590143" y="573203"/>
            <a:ext cx="1000327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t>EARNINGS ENIGMA:</a:t>
            </a:r>
            <a:b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br>
            <a: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t>CRACKING THE CODE </a:t>
            </a:r>
            <a:b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br>
            <a: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t>WITH K-NN AND NA</a:t>
            </a:r>
            <a:r>
              <a:rPr kumimoji="0" lang="en-US" altLang="en-US" sz="7200" b="0" i="0" u="none" strike="noStrike" cap="none" normalizeH="0" baseline="0" dirty="0">
                <a:ln>
                  <a:noFill/>
                </a:ln>
                <a:solidFill>
                  <a:srgbClr val="156082"/>
                </a:solidFill>
                <a:effectLst/>
                <a:latin typeface="Aptos" panose="020B0004020202020204" pitchFamily="34" charset="0"/>
                <a:ea typeface="DengXian" panose="020B0503020204020204" pitchFamily="2" charset="-122"/>
                <a:cs typeface="Cordia New" panose="020B0304020202020204" pitchFamily="34" charset="-34"/>
              </a:rPr>
              <a:t>Ï</a:t>
            </a:r>
            <a:r>
              <a:rPr kumimoji="0" lang="en-US" altLang="en-US" sz="7200" b="0" i="0" u="none" strike="noStrike" cap="none" normalizeH="0" baseline="0" dirty="0">
                <a:ln>
                  <a:noFill/>
                </a:ln>
                <a:solidFill>
                  <a:srgbClr val="156082"/>
                </a:solidFill>
                <a:effectLst/>
                <a:latin typeface="Aptos Mono" panose="020B0009020202020204" pitchFamily="49" charset="0"/>
                <a:ea typeface="DengXian" panose="020B0503020204020204" pitchFamily="2" charset="-122"/>
                <a:cs typeface="Cordia New" panose="020B0304020202020204" pitchFamily="34" charset="-34"/>
              </a:rPr>
              <a:t>VE BAYES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399AD06-5E29-4ACB-4D15-581EF9F144C5}"/>
              </a:ext>
            </a:extLst>
          </p:cNvPr>
          <p:cNvSpPr txBox="1"/>
          <p:nvPr/>
        </p:nvSpPr>
        <p:spPr>
          <a:xfrm>
            <a:off x="590143" y="5189851"/>
            <a:ext cx="3411703" cy="369332"/>
          </a:xfrm>
          <a:prstGeom prst="rect">
            <a:avLst/>
          </a:prstGeom>
          <a:noFill/>
        </p:spPr>
        <p:txBody>
          <a:bodyPr wrap="none" rtlCol="0">
            <a:spAutoFit/>
          </a:bodyPr>
          <a:lstStyle/>
          <a:p>
            <a:r>
              <a:rPr lang="en-US" sz="1800" dirty="0">
                <a:effectLst/>
                <a:latin typeface="Aptos" panose="020B0004020202020204" pitchFamily="34" charset="0"/>
                <a:ea typeface="DengXian" panose="020B0503020204020204" pitchFamily="2" charset="-122"/>
                <a:cs typeface="Cordia New" panose="020B0304020202020204" pitchFamily="34" charset="-34"/>
              </a:rPr>
              <a:t> </a:t>
            </a:r>
            <a:r>
              <a:rPr lang="en-US" sz="1800" dirty="0">
                <a:solidFill>
                  <a:srgbClr val="156082"/>
                </a:solidFill>
                <a:effectLst/>
                <a:latin typeface="Aptos" panose="020B0004020202020204" pitchFamily="34" charset="0"/>
                <a:ea typeface="DengXian" panose="020B0503020204020204" pitchFamily="2" charset="-122"/>
                <a:cs typeface="Cordia New" panose="020B0304020202020204" pitchFamily="34" charset="-34"/>
              </a:rPr>
              <a:t>Aloysius Peter and Varun </a:t>
            </a:r>
            <a:r>
              <a:rPr lang="en-US" sz="1800" dirty="0" err="1">
                <a:solidFill>
                  <a:srgbClr val="156082"/>
                </a:solidFill>
                <a:effectLst/>
                <a:latin typeface="Aptos" panose="020B0004020202020204" pitchFamily="34" charset="0"/>
                <a:ea typeface="DengXian" panose="020B0503020204020204" pitchFamily="2" charset="-122"/>
                <a:cs typeface="Cordia New" panose="020B0304020202020204" pitchFamily="34" charset="-34"/>
              </a:rPr>
              <a:t>Vedula</a:t>
            </a:r>
            <a:endParaRPr lang="en-IN" dirty="0"/>
          </a:p>
        </p:txBody>
      </p:sp>
      <p:sp>
        <p:nvSpPr>
          <p:cNvPr id="6" name="Rectangle 2">
            <a:extLst>
              <a:ext uri="{FF2B5EF4-FFF2-40B4-BE49-F238E27FC236}">
                <a16:creationId xmlns:a16="http://schemas.microsoft.com/office/drawing/2014/main" id="{E2B80735-EF0A-6AB0-B369-9BE1D59675E0}"/>
              </a:ext>
            </a:extLst>
          </p:cNvPr>
          <p:cNvSpPr>
            <a:spLocks noChangeArrowheads="1"/>
          </p:cNvSpPr>
          <p:nvPr/>
        </p:nvSpPr>
        <p:spPr bwMode="auto">
          <a:xfrm>
            <a:off x="-504219" y="605619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56082"/>
                </a:solidFill>
                <a:effectLst/>
                <a:latin typeface="Aptos" panose="020B0004020202020204" pitchFamily="34" charset="0"/>
                <a:ea typeface="DengXian" panose="020B0503020204020204" pitchFamily="2" charset="-122"/>
                <a:cs typeface="Cordia New" panose="020B0304020202020204" pitchFamily="34" charset="-34"/>
              </a:rPr>
              <a:t>KENT STATE UNIVERSITY</a:t>
            </a:r>
            <a:endParaRPr kumimoji="0" lang="en-US" altLang="en-US" sz="800" b="0" i="0" u="none" strike="noStrike" cap="none" normalizeH="0" baseline="0" dirty="0">
              <a:ln>
                <a:noFill/>
              </a:ln>
              <a:solidFill>
                <a:schemeClr val="tx1"/>
              </a:solidFill>
              <a:effectLst/>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156082"/>
                </a:solidFill>
                <a:effectLst/>
                <a:latin typeface="Aptos" panose="020B0004020202020204" pitchFamily="34" charset="0"/>
                <a:ea typeface="DengXian" panose="020B0503020204020204" pitchFamily="2" charset="-122"/>
                <a:cs typeface="Cordia New" panose="020B0304020202020204" pitchFamily="34" charset="-34"/>
              </a:rPr>
              <a:t>CAPSTONE PROJECT IN BUSINESS ANALYTICS (BA-64099-024)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Rounded Corners 9">
            <a:extLst>
              <a:ext uri="{FF2B5EF4-FFF2-40B4-BE49-F238E27FC236}">
                <a16:creationId xmlns:a16="http://schemas.microsoft.com/office/drawing/2014/main" id="{CC39A8D0-143B-C528-56DA-009F5BC893E2}"/>
              </a:ext>
            </a:extLst>
          </p:cNvPr>
          <p:cNvSpPr/>
          <p:nvPr/>
        </p:nvSpPr>
        <p:spPr>
          <a:xfrm>
            <a:off x="667604" y="5833533"/>
            <a:ext cx="3256779" cy="22266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C5C81B58-7DE3-CCE1-F9A8-281F2B97F828}"/>
              </a:ext>
            </a:extLst>
          </p:cNvPr>
          <p:cNvSpPr/>
          <p:nvPr/>
        </p:nvSpPr>
        <p:spPr>
          <a:xfrm>
            <a:off x="667604" y="6330547"/>
            <a:ext cx="3256779" cy="22266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Audio 22">
            <a:extLst>
              <a:ext uri="{FF2B5EF4-FFF2-40B4-BE49-F238E27FC236}">
                <a16:creationId xmlns:a16="http://schemas.microsoft.com/office/drawing/2014/main" id="{74157199-017A-E519-50D7-F58218A83DD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07557776"/>
      </p:ext>
    </p:extLst>
  </p:cSld>
  <p:clrMapOvr>
    <a:masterClrMapping/>
  </p:clrMapOvr>
  <mc:AlternateContent xmlns:mc="http://schemas.openxmlformats.org/markup-compatibility/2006">
    <mc:Choice xmlns:p14="http://schemas.microsoft.com/office/powerpoint/2010/main" Requires="p14">
      <p:transition spd="slow" p14:dur="2000" advTm="23642"/>
    </mc:Choice>
    <mc:Fallback>
      <p:transition spd="slow" advTm="236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D093291-5D18-5546-E6D3-299E0C9E2251}"/>
              </a:ext>
            </a:extLst>
          </p:cNvPr>
          <p:cNvSpPr/>
          <p:nvPr/>
        </p:nvSpPr>
        <p:spPr>
          <a:xfrm>
            <a:off x="838200" y="608808"/>
            <a:ext cx="4470400" cy="9482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D2D8A9C-0BE9-933C-F053-C1EEBCC5EEA4}"/>
              </a:ext>
            </a:extLst>
          </p:cNvPr>
          <p:cNvSpPr>
            <a:spLocks noGrp="1"/>
          </p:cNvSpPr>
          <p:nvPr>
            <p:ph type="title"/>
          </p:nvPr>
        </p:nvSpPr>
        <p:spPr>
          <a:xfrm>
            <a:off x="838200" y="556995"/>
            <a:ext cx="10515600" cy="1133693"/>
          </a:xfrm>
        </p:spPr>
        <p:txBody>
          <a:bodyPr>
            <a:noAutofit/>
          </a:bodyPr>
          <a:lstStyle/>
          <a:p>
            <a:r>
              <a:rPr lang="en-IN" sz="6600" dirty="0">
                <a:solidFill>
                  <a:srgbClr val="156082"/>
                </a:solidFill>
                <a:latin typeface="Aptos Narrow" panose="020B0004020202020204" pitchFamily="34" charset="0"/>
                <a:ea typeface="DengXian" panose="020B0503020204020204" pitchFamily="2" charset="-122"/>
                <a:cs typeface="Cordia New" panose="020B0304020202020204" pitchFamily="34" charset="-34"/>
              </a:rPr>
              <a:t>P R O J E C T   S T R U C T U R E </a:t>
            </a:r>
          </a:p>
        </p:txBody>
      </p:sp>
      <p:graphicFrame>
        <p:nvGraphicFramePr>
          <p:cNvPr id="5" name="TextBox 2">
            <a:extLst>
              <a:ext uri="{FF2B5EF4-FFF2-40B4-BE49-F238E27FC236}">
                <a16:creationId xmlns:a16="http://schemas.microsoft.com/office/drawing/2014/main" id="{6BD9102A-2F2B-1A23-CFDC-72344930BA0B}"/>
              </a:ext>
            </a:extLst>
          </p:cNvPr>
          <p:cNvGraphicFramePr/>
          <p:nvPr>
            <p:extLst>
              <p:ext uri="{D42A27DB-BD31-4B8C-83A1-F6EECF244321}">
                <p14:modId xmlns:p14="http://schemas.microsoft.com/office/powerpoint/2010/main" val="13299603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3" name="Audio 12">
            <a:extLst>
              <a:ext uri="{FF2B5EF4-FFF2-40B4-BE49-F238E27FC236}">
                <a16:creationId xmlns:a16="http://schemas.microsoft.com/office/drawing/2014/main" id="{308E007D-CB44-1DE8-6394-8CA3DCE72169}"/>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48626351"/>
      </p:ext>
    </p:extLst>
  </p:cSld>
  <p:clrMapOvr>
    <a:masterClrMapping/>
  </p:clrMapOvr>
  <mc:AlternateContent xmlns:mc="http://schemas.openxmlformats.org/markup-compatibility/2006">
    <mc:Choice xmlns:p14="http://schemas.microsoft.com/office/powerpoint/2010/main" Requires="p14">
      <p:transition spd="slow" p14:dur="2000" advTm="56899"/>
    </mc:Choice>
    <mc:Fallback>
      <p:transition spd="slow" advTm="568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FDA47-CACC-EF43-51BF-77139B5AB4D1}"/>
              </a:ext>
            </a:extLst>
          </p:cNvPr>
          <p:cNvSpPr>
            <a:spLocks noGrp="1"/>
          </p:cNvSpPr>
          <p:nvPr>
            <p:ph type="title"/>
          </p:nvPr>
        </p:nvSpPr>
        <p:spPr/>
        <p:txBody>
          <a:bodyPr>
            <a:normAutofit/>
          </a:bodyPr>
          <a:lstStyle/>
          <a:p>
            <a:r>
              <a:rPr lang="en-IN" sz="6600" dirty="0">
                <a:solidFill>
                  <a:srgbClr val="156082"/>
                </a:solidFill>
                <a:latin typeface="Aptos Narrow" panose="020B0004020202020204" pitchFamily="34" charset="0"/>
              </a:rPr>
              <a:t>D A T A</a:t>
            </a:r>
          </a:p>
        </p:txBody>
      </p:sp>
      <p:sp>
        <p:nvSpPr>
          <p:cNvPr id="6" name="TextBox 5">
            <a:extLst>
              <a:ext uri="{FF2B5EF4-FFF2-40B4-BE49-F238E27FC236}">
                <a16:creationId xmlns:a16="http://schemas.microsoft.com/office/drawing/2014/main" id="{31354697-A539-1FA3-05FF-80F5DDB42933}"/>
              </a:ext>
            </a:extLst>
          </p:cNvPr>
          <p:cNvSpPr txBox="1"/>
          <p:nvPr/>
        </p:nvSpPr>
        <p:spPr>
          <a:xfrm>
            <a:off x="6477001" y="2690336"/>
            <a:ext cx="5157461" cy="1631216"/>
          </a:xfrm>
          <a:prstGeom prst="rect">
            <a:avLst/>
          </a:prstGeom>
          <a:noFill/>
        </p:spPr>
        <p:txBody>
          <a:bodyPr wrap="square" rtlCol="0">
            <a:spAutoFit/>
          </a:bodyPr>
          <a:lstStyle/>
          <a:p>
            <a:pPr algn="ctr"/>
            <a:r>
              <a:rPr lang="en-IN" sz="2000" dirty="0"/>
              <a:t>Data Transformation</a:t>
            </a:r>
          </a:p>
          <a:p>
            <a:pPr algn="ctr"/>
            <a:endParaRPr lang="en-IN" sz="2000" dirty="0"/>
          </a:p>
          <a:p>
            <a:pPr algn="ctr"/>
            <a:endParaRPr lang="en-IN" sz="2000" dirty="0"/>
          </a:p>
          <a:p>
            <a:pPr algn="ctr"/>
            <a:endParaRPr lang="en-IN" sz="2000" dirty="0"/>
          </a:p>
          <a:p>
            <a:r>
              <a:rPr lang="en-IN" sz="2000" dirty="0"/>
              <a:t>One Hot Encoding                       Normalization</a:t>
            </a:r>
          </a:p>
        </p:txBody>
      </p:sp>
      <p:sp>
        <p:nvSpPr>
          <p:cNvPr id="7" name="TextBox 6">
            <a:extLst>
              <a:ext uri="{FF2B5EF4-FFF2-40B4-BE49-F238E27FC236}">
                <a16:creationId xmlns:a16="http://schemas.microsoft.com/office/drawing/2014/main" id="{F9D80669-9BF7-37D1-2DB2-EAD27A6A465E}"/>
              </a:ext>
            </a:extLst>
          </p:cNvPr>
          <p:cNvSpPr txBox="1"/>
          <p:nvPr/>
        </p:nvSpPr>
        <p:spPr>
          <a:xfrm>
            <a:off x="907195" y="2690336"/>
            <a:ext cx="5019472" cy="1631216"/>
          </a:xfrm>
          <a:prstGeom prst="rect">
            <a:avLst/>
          </a:prstGeom>
          <a:noFill/>
        </p:spPr>
        <p:txBody>
          <a:bodyPr wrap="square" rtlCol="0">
            <a:spAutoFit/>
          </a:bodyPr>
          <a:lstStyle/>
          <a:p>
            <a:pPr algn="ctr"/>
            <a:r>
              <a:rPr lang="en-IN" sz="2000" dirty="0"/>
              <a:t>Data Exploration and Cleaning</a:t>
            </a:r>
          </a:p>
          <a:p>
            <a:pPr algn="ctr"/>
            <a:endParaRPr lang="en-IN" sz="2000" dirty="0"/>
          </a:p>
          <a:p>
            <a:pPr algn="ctr"/>
            <a:endParaRPr lang="en-IN" sz="2000" dirty="0"/>
          </a:p>
          <a:p>
            <a:pPr algn="ctr"/>
            <a:endParaRPr lang="en-IN" sz="2000" dirty="0"/>
          </a:p>
          <a:p>
            <a:pPr algn="ctr"/>
            <a:r>
              <a:rPr lang="en-IN" sz="2000" dirty="0"/>
              <a:t>Data Cleaning                  Descriptive Statistics</a:t>
            </a:r>
          </a:p>
        </p:txBody>
      </p:sp>
      <p:pic>
        <p:nvPicPr>
          <p:cNvPr id="9" name="Graphic 8" descr="Microscope with solid fill">
            <a:extLst>
              <a:ext uri="{FF2B5EF4-FFF2-40B4-BE49-F238E27FC236}">
                <a16:creationId xmlns:a16="http://schemas.microsoft.com/office/drawing/2014/main" id="{AAFE7BFE-29F3-CB2D-5E2C-451D0358DC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2370667"/>
            <a:ext cx="914400" cy="914400"/>
          </a:xfrm>
          <a:prstGeom prst="rect">
            <a:avLst/>
          </a:prstGeom>
        </p:spPr>
      </p:pic>
      <p:pic>
        <p:nvPicPr>
          <p:cNvPr id="11" name="Graphic 10" descr="Toggle with solid fill">
            <a:extLst>
              <a:ext uri="{FF2B5EF4-FFF2-40B4-BE49-F238E27FC236}">
                <a16:creationId xmlns:a16="http://schemas.microsoft.com/office/drawing/2014/main" id="{CFF9CC3C-139A-FD5D-E203-4908FA21A6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25733" y="2514600"/>
            <a:ext cx="914400" cy="914400"/>
          </a:xfrm>
          <a:prstGeom prst="rect">
            <a:avLst/>
          </a:prstGeom>
        </p:spPr>
      </p:pic>
      <p:pic>
        <p:nvPicPr>
          <p:cNvPr id="15" name="Graphic 14" descr="Presentation with bar chart outline">
            <a:extLst>
              <a:ext uri="{FF2B5EF4-FFF2-40B4-BE49-F238E27FC236}">
                <a16:creationId xmlns:a16="http://schemas.microsoft.com/office/drawing/2014/main" id="{889274D8-7382-E648-B245-8737CE289F7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51867" y="4284715"/>
            <a:ext cx="914400" cy="914400"/>
          </a:xfrm>
          <a:prstGeom prst="rect">
            <a:avLst/>
          </a:prstGeom>
        </p:spPr>
      </p:pic>
      <p:pic>
        <p:nvPicPr>
          <p:cNvPr id="17" name="Graphic 16" descr="Soap outline">
            <a:extLst>
              <a:ext uri="{FF2B5EF4-FFF2-40B4-BE49-F238E27FC236}">
                <a16:creationId xmlns:a16="http://schemas.microsoft.com/office/drawing/2014/main" id="{903F426B-E03F-B585-CAE4-81D874B16BB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57931" y="4284715"/>
            <a:ext cx="914400" cy="914400"/>
          </a:xfrm>
          <a:prstGeom prst="rect">
            <a:avLst/>
          </a:prstGeom>
        </p:spPr>
      </p:pic>
      <p:pic>
        <p:nvPicPr>
          <p:cNvPr id="19" name="Graphic 18" descr="Normal Distribution outline">
            <a:extLst>
              <a:ext uri="{FF2B5EF4-FFF2-40B4-BE49-F238E27FC236}">
                <a16:creationId xmlns:a16="http://schemas.microsoft.com/office/drawing/2014/main" id="{5E56B1F3-300B-BB28-E5E4-7AB93CC7D4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51533" y="4321552"/>
            <a:ext cx="914400" cy="914400"/>
          </a:xfrm>
          <a:prstGeom prst="rect">
            <a:avLst/>
          </a:prstGeom>
        </p:spPr>
      </p:pic>
      <p:pic>
        <p:nvPicPr>
          <p:cNvPr id="21" name="Graphic 20" descr="Branching diagram outline">
            <a:extLst>
              <a:ext uri="{FF2B5EF4-FFF2-40B4-BE49-F238E27FC236}">
                <a16:creationId xmlns:a16="http://schemas.microsoft.com/office/drawing/2014/main" id="{19562F52-F82D-7558-40E7-501EEE8FF40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0800000">
            <a:off x="7165948" y="4207431"/>
            <a:ext cx="914400" cy="914400"/>
          </a:xfrm>
          <a:prstGeom prst="rect">
            <a:avLst/>
          </a:prstGeom>
        </p:spPr>
      </p:pic>
      <p:sp>
        <p:nvSpPr>
          <p:cNvPr id="22" name="Rectangle: Rounded Corners 21">
            <a:extLst>
              <a:ext uri="{FF2B5EF4-FFF2-40B4-BE49-F238E27FC236}">
                <a16:creationId xmlns:a16="http://schemas.microsoft.com/office/drawing/2014/main" id="{D5713B47-6E9D-4F9A-80BC-D775AD147BE8}"/>
              </a:ext>
            </a:extLst>
          </p:cNvPr>
          <p:cNvSpPr/>
          <p:nvPr/>
        </p:nvSpPr>
        <p:spPr>
          <a:xfrm>
            <a:off x="3673271" y="545445"/>
            <a:ext cx="7392662" cy="817688"/>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Audio 13">
            <a:extLst>
              <a:ext uri="{FF2B5EF4-FFF2-40B4-BE49-F238E27FC236}">
                <a16:creationId xmlns:a16="http://schemas.microsoft.com/office/drawing/2014/main" id="{D9B37D4A-38A5-5DB4-C335-598583B8605A}"/>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69391961"/>
      </p:ext>
    </p:extLst>
  </p:cSld>
  <p:clrMapOvr>
    <a:masterClrMapping/>
  </p:clrMapOvr>
  <mc:AlternateContent xmlns:mc="http://schemas.openxmlformats.org/markup-compatibility/2006">
    <mc:Choice xmlns:p14="http://schemas.microsoft.com/office/powerpoint/2010/main" Requires="p14">
      <p:transition spd="slow" p14:dur="2000" advTm="125816"/>
    </mc:Choice>
    <mc:Fallback>
      <p:transition spd="slow" advTm="1258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874FA84-BEA3-102F-B381-44E7C4194B50}"/>
              </a:ext>
            </a:extLst>
          </p:cNvPr>
          <p:cNvSpPr/>
          <p:nvPr/>
        </p:nvSpPr>
        <p:spPr>
          <a:xfrm>
            <a:off x="5511800" y="567267"/>
            <a:ext cx="5842000" cy="86948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A51FF3B-7571-A2B2-3C0E-6BF43C4922C4}"/>
              </a:ext>
            </a:extLst>
          </p:cNvPr>
          <p:cNvSpPr>
            <a:spLocks noGrp="1"/>
          </p:cNvSpPr>
          <p:nvPr>
            <p:ph type="title"/>
          </p:nvPr>
        </p:nvSpPr>
        <p:spPr/>
        <p:txBody>
          <a:bodyPr>
            <a:normAutofit/>
          </a:bodyPr>
          <a:lstStyle/>
          <a:p>
            <a:r>
              <a:rPr lang="en-IN" sz="6600" dirty="0">
                <a:solidFill>
                  <a:srgbClr val="156082"/>
                </a:solidFill>
                <a:latin typeface="Arial Narrow" panose="020B0606020202030204" pitchFamily="34" charset="0"/>
              </a:rPr>
              <a:t>F E A T U R E   S E L E C T I O N</a:t>
            </a:r>
          </a:p>
        </p:txBody>
      </p:sp>
      <p:sp>
        <p:nvSpPr>
          <p:cNvPr id="3" name="Content Placeholder 2">
            <a:extLst>
              <a:ext uri="{FF2B5EF4-FFF2-40B4-BE49-F238E27FC236}">
                <a16:creationId xmlns:a16="http://schemas.microsoft.com/office/drawing/2014/main" id="{26B6EDDB-56C5-348F-14DD-FA70352728F4}"/>
              </a:ext>
            </a:extLst>
          </p:cNvPr>
          <p:cNvSpPr>
            <a:spLocks noGrp="1"/>
          </p:cNvSpPr>
          <p:nvPr>
            <p:ph idx="1"/>
          </p:nvPr>
        </p:nvSpPr>
        <p:spPr>
          <a:xfrm>
            <a:off x="838200" y="3818467"/>
            <a:ext cx="2921000" cy="2272242"/>
          </a:xfrm>
        </p:spPr>
        <p:txBody>
          <a:bodyPr>
            <a:normAutofit/>
          </a:bodyPr>
          <a:lstStyle/>
          <a:p>
            <a:pPr marL="0" indent="0">
              <a:buNone/>
            </a:pPr>
            <a:r>
              <a:rPr lang="en-IN" sz="2000" dirty="0"/>
              <a:t>Correlation Plot &amp; </a:t>
            </a:r>
          </a:p>
          <a:p>
            <a:pPr marL="0" indent="0">
              <a:buNone/>
            </a:pPr>
            <a:r>
              <a:rPr lang="en-IN" sz="2000" dirty="0"/>
              <a:t>Pair Plot Matrix</a:t>
            </a:r>
          </a:p>
          <a:p>
            <a:pPr marL="0" indent="0">
              <a:buNone/>
            </a:pPr>
            <a:endParaRPr lang="en-IN" sz="2000" dirty="0"/>
          </a:p>
        </p:txBody>
      </p:sp>
      <p:sp>
        <p:nvSpPr>
          <p:cNvPr id="4" name="TextBox 3">
            <a:extLst>
              <a:ext uri="{FF2B5EF4-FFF2-40B4-BE49-F238E27FC236}">
                <a16:creationId xmlns:a16="http://schemas.microsoft.com/office/drawing/2014/main" id="{1274D579-0319-3796-C731-4C7C084E6AB9}"/>
              </a:ext>
            </a:extLst>
          </p:cNvPr>
          <p:cNvSpPr txBox="1"/>
          <p:nvPr/>
        </p:nvSpPr>
        <p:spPr>
          <a:xfrm>
            <a:off x="4275666" y="3818467"/>
            <a:ext cx="2397836" cy="707886"/>
          </a:xfrm>
          <a:prstGeom prst="rect">
            <a:avLst/>
          </a:prstGeom>
          <a:noFill/>
        </p:spPr>
        <p:txBody>
          <a:bodyPr wrap="none" rtlCol="0">
            <a:spAutoFit/>
          </a:bodyPr>
          <a:lstStyle/>
          <a:p>
            <a:r>
              <a:rPr lang="en-IN" sz="2000" dirty="0"/>
              <a:t>Backward Stepwise </a:t>
            </a:r>
          </a:p>
          <a:p>
            <a:r>
              <a:rPr lang="en-IN" sz="2000" dirty="0"/>
              <a:t>Regression</a:t>
            </a:r>
          </a:p>
        </p:txBody>
      </p:sp>
      <p:sp>
        <p:nvSpPr>
          <p:cNvPr id="5" name="TextBox 4">
            <a:extLst>
              <a:ext uri="{FF2B5EF4-FFF2-40B4-BE49-F238E27FC236}">
                <a16:creationId xmlns:a16="http://schemas.microsoft.com/office/drawing/2014/main" id="{B92FEFF1-DF75-B660-0A00-3189D6440155}"/>
              </a:ext>
            </a:extLst>
          </p:cNvPr>
          <p:cNvSpPr txBox="1"/>
          <p:nvPr/>
        </p:nvSpPr>
        <p:spPr>
          <a:xfrm>
            <a:off x="7794590" y="3818467"/>
            <a:ext cx="3660810" cy="707886"/>
          </a:xfrm>
          <a:prstGeom prst="rect">
            <a:avLst/>
          </a:prstGeom>
          <a:noFill/>
        </p:spPr>
        <p:txBody>
          <a:bodyPr wrap="none" rtlCol="0">
            <a:spAutoFit/>
          </a:bodyPr>
          <a:lstStyle/>
          <a:p>
            <a:pPr algn="ctr"/>
            <a:r>
              <a:rPr lang="en-IN" sz="2000" dirty="0"/>
              <a:t>PCA</a:t>
            </a:r>
          </a:p>
          <a:p>
            <a:pPr algn="ctr"/>
            <a:r>
              <a:rPr lang="en-IN" sz="2000" dirty="0"/>
              <a:t>(Principal Component Analysis)</a:t>
            </a:r>
          </a:p>
        </p:txBody>
      </p:sp>
      <p:pic>
        <p:nvPicPr>
          <p:cNvPr id="10" name="Graphic 9" descr="Stop outline">
            <a:extLst>
              <a:ext uri="{FF2B5EF4-FFF2-40B4-BE49-F238E27FC236}">
                <a16:creationId xmlns:a16="http://schemas.microsoft.com/office/drawing/2014/main" id="{4A25BFA9-00BD-5246-0D05-E26007429B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53066" y="4954588"/>
            <a:ext cx="914400" cy="914400"/>
          </a:xfrm>
          <a:prstGeom prst="rect">
            <a:avLst/>
          </a:prstGeom>
        </p:spPr>
      </p:pic>
      <p:pic>
        <p:nvPicPr>
          <p:cNvPr id="12" name="Graphic 11" descr="Branching diagram outline">
            <a:extLst>
              <a:ext uri="{FF2B5EF4-FFF2-40B4-BE49-F238E27FC236}">
                <a16:creationId xmlns:a16="http://schemas.microsoft.com/office/drawing/2014/main" id="{3EB918EC-A132-76AF-71FC-B0867C3944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17384" y="4954588"/>
            <a:ext cx="914400" cy="914400"/>
          </a:xfrm>
          <a:prstGeom prst="rect">
            <a:avLst/>
          </a:prstGeom>
        </p:spPr>
      </p:pic>
      <p:pic>
        <p:nvPicPr>
          <p:cNvPr id="16" name="Graphic 15" descr="Circle with left arrow outline">
            <a:extLst>
              <a:ext uri="{FF2B5EF4-FFF2-40B4-BE49-F238E27FC236}">
                <a16:creationId xmlns:a16="http://schemas.microsoft.com/office/drawing/2014/main" id="{0135A7B9-3F35-0F07-A5F1-882DD564EC1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67795" y="4954588"/>
            <a:ext cx="914400" cy="914400"/>
          </a:xfrm>
          <a:prstGeom prst="rect">
            <a:avLst/>
          </a:prstGeom>
        </p:spPr>
      </p:pic>
      <p:sp>
        <p:nvSpPr>
          <p:cNvPr id="17" name="TextBox 16">
            <a:extLst>
              <a:ext uri="{FF2B5EF4-FFF2-40B4-BE49-F238E27FC236}">
                <a16:creationId xmlns:a16="http://schemas.microsoft.com/office/drawing/2014/main" id="{7B6442D9-DA64-724C-ED8A-2C84C87BC8B9}"/>
              </a:ext>
            </a:extLst>
          </p:cNvPr>
          <p:cNvSpPr txBox="1"/>
          <p:nvPr/>
        </p:nvSpPr>
        <p:spPr>
          <a:xfrm>
            <a:off x="3337948" y="2492967"/>
            <a:ext cx="7588296" cy="523220"/>
          </a:xfrm>
          <a:prstGeom prst="rect">
            <a:avLst/>
          </a:prstGeom>
          <a:noFill/>
        </p:spPr>
        <p:txBody>
          <a:bodyPr wrap="none" rtlCol="0">
            <a:spAutoFit/>
          </a:bodyPr>
          <a:lstStyle/>
          <a:p>
            <a:r>
              <a:rPr lang="en-IN" sz="2800" dirty="0"/>
              <a:t>Age, Hours per week, Work Class and Education</a:t>
            </a:r>
          </a:p>
        </p:txBody>
      </p:sp>
      <p:pic>
        <p:nvPicPr>
          <p:cNvPr id="19" name="Graphic 18" descr="Checkmark outline">
            <a:extLst>
              <a:ext uri="{FF2B5EF4-FFF2-40B4-BE49-F238E27FC236}">
                <a16:creationId xmlns:a16="http://schemas.microsoft.com/office/drawing/2014/main" id="{2304AAD7-DBA0-939E-D5C2-ACAE1E63B6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10833" y="2297377"/>
            <a:ext cx="914400" cy="914400"/>
          </a:xfrm>
          <a:prstGeom prst="rect">
            <a:avLst/>
          </a:prstGeom>
        </p:spPr>
      </p:pic>
      <p:pic>
        <p:nvPicPr>
          <p:cNvPr id="9" name="Audio 8">
            <a:extLst>
              <a:ext uri="{FF2B5EF4-FFF2-40B4-BE49-F238E27FC236}">
                <a16:creationId xmlns:a16="http://schemas.microsoft.com/office/drawing/2014/main" id="{A9F445AE-6730-E35A-C562-4E44B83F7CCA}"/>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710546941"/>
      </p:ext>
    </p:extLst>
  </p:cSld>
  <p:clrMapOvr>
    <a:masterClrMapping/>
  </p:clrMapOvr>
  <mc:AlternateContent xmlns:mc="http://schemas.openxmlformats.org/markup-compatibility/2006">
    <mc:Choice xmlns:p14="http://schemas.microsoft.com/office/powerpoint/2010/main" Requires="p14">
      <p:transition spd="slow" p14:dur="2000" advTm="35666"/>
    </mc:Choice>
    <mc:Fallback>
      <p:transition spd="slow" advTm="356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999E8550-7C5E-C838-BF60-E3666DC66060}"/>
              </a:ext>
            </a:extLst>
          </p:cNvPr>
          <p:cNvSpPr/>
          <p:nvPr/>
        </p:nvSpPr>
        <p:spPr>
          <a:xfrm>
            <a:off x="693208" y="664882"/>
            <a:ext cx="4496859" cy="7260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A952B52-3F0B-ADE6-AD09-12A0822ECDD8}"/>
              </a:ext>
            </a:extLst>
          </p:cNvPr>
          <p:cNvSpPr>
            <a:spLocks noGrp="1"/>
          </p:cNvSpPr>
          <p:nvPr>
            <p:ph type="title"/>
          </p:nvPr>
        </p:nvSpPr>
        <p:spPr/>
        <p:txBody>
          <a:bodyPr>
            <a:normAutofit/>
          </a:bodyPr>
          <a:lstStyle/>
          <a:p>
            <a:r>
              <a:rPr lang="en-IN" sz="4000" dirty="0">
                <a:solidFill>
                  <a:srgbClr val="156082"/>
                </a:solidFill>
                <a:latin typeface="Arial Narrow" panose="020B0606020202030204" pitchFamily="34" charset="0"/>
              </a:rPr>
              <a:t>C O R </a:t>
            </a:r>
            <a:r>
              <a:rPr lang="en-IN" sz="4000" dirty="0" err="1">
                <a:solidFill>
                  <a:srgbClr val="156082"/>
                </a:solidFill>
                <a:latin typeface="Arial Narrow" panose="020B0606020202030204" pitchFamily="34" charset="0"/>
              </a:rPr>
              <a:t>R</a:t>
            </a:r>
            <a:r>
              <a:rPr lang="en-IN" sz="4000" dirty="0">
                <a:solidFill>
                  <a:srgbClr val="156082"/>
                </a:solidFill>
                <a:latin typeface="Arial Narrow" panose="020B0606020202030204" pitchFamily="34" charset="0"/>
              </a:rPr>
              <a:t> E L A T I O N  &amp;  P A I R  M A T R I X  P L O T</a:t>
            </a:r>
          </a:p>
        </p:txBody>
      </p:sp>
      <p:sp>
        <p:nvSpPr>
          <p:cNvPr id="4" name="TextBox 3">
            <a:extLst>
              <a:ext uri="{FF2B5EF4-FFF2-40B4-BE49-F238E27FC236}">
                <a16:creationId xmlns:a16="http://schemas.microsoft.com/office/drawing/2014/main" id="{E79979DF-8F96-0ABC-4CB0-93009307CE65}"/>
              </a:ext>
            </a:extLst>
          </p:cNvPr>
          <p:cNvSpPr txBox="1"/>
          <p:nvPr/>
        </p:nvSpPr>
        <p:spPr>
          <a:xfrm>
            <a:off x="1854200" y="1955800"/>
            <a:ext cx="1927772" cy="400110"/>
          </a:xfrm>
          <a:prstGeom prst="rect">
            <a:avLst/>
          </a:prstGeom>
          <a:noFill/>
        </p:spPr>
        <p:txBody>
          <a:bodyPr wrap="none" rtlCol="0">
            <a:spAutoFit/>
          </a:bodyPr>
          <a:lstStyle/>
          <a:p>
            <a:r>
              <a:rPr lang="en-IN" sz="2000" dirty="0"/>
              <a:t>Correlation Plot</a:t>
            </a:r>
          </a:p>
        </p:txBody>
      </p:sp>
      <p:sp>
        <p:nvSpPr>
          <p:cNvPr id="5" name="TextBox 4">
            <a:extLst>
              <a:ext uri="{FF2B5EF4-FFF2-40B4-BE49-F238E27FC236}">
                <a16:creationId xmlns:a16="http://schemas.microsoft.com/office/drawing/2014/main" id="{71CCAE09-8FEB-4269-471C-1C9430114C0F}"/>
              </a:ext>
            </a:extLst>
          </p:cNvPr>
          <p:cNvSpPr txBox="1"/>
          <p:nvPr/>
        </p:nvSpPr>
        <p:spPr>
          <a:xfrm>
            <a:off x="7450667" y="1955800"/>
            <a:ext cx="1832874" cy="400110"/>
          </a:xfrm>
          <a:prstGeom prst="rect">
            <a:avLst/>
          </a:prstGeom>
          <a:noFill/>
        </p:spPr>
        <p:txBody>
          <a:bodyPr wrap="none" rtlCol="0">
            <a:spAutoFit/>
          </a:bodyPr>
          <a:lstStyle/>
          <a:p>
            <a:r>
              <a:rPr lang="en-IN" sz="2000" dirty="0"/>
              <a:t>Pair Matrix Plot</a:t>
            </a:r>
          </a:p>
        </p:txBody>
      </p:sp>
      <p:pic>
        <p:nvPicPr>
          <p:cNvPr id="6" name="Picture 5" descr="A graph with a line and a line&#10;&#10;Description automatically generated with medium confidence">
            <a:extLst>
              <a:ext uri="{FF2B5EF4-FFF2-40B4-BE49-F238E27FC236}">
                <a16:creationId xmlns:a16="http://schemas.microsoft.com/office/drawing/2014/main" id="{75FC4C6B-7207-1CE4-48F6-71F08D9B472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9415" t="7461" r="14497"/>
          <a:stretch/>
        </p:blipFill>
        <p:spPr bwMode="auto">
          <a:xfrm>
            <a:off x="625475" y="2615643"/>
            <a:ext cx="4496858" cy="3366644"/>
          </a:xfrm>
          <a:prstGeom prst="rect">
            <a:avLst/>
          </a:prstGeom>
          <a:extLst>
            <a:ext uri="{53640926-AAD7-44D8-BBD7-CCE9431645EC}">
              <a14:shadowObscured xmlns:a14="http://schemas.microsoft.com/office/drawing/2010/main"/>
            </a:ext>
          </a:extLst>
        </p:spPr>
      </p:pic>
      <p:pic>
        <p:nvPicPr>
          <p:cNvPr id="7" name="Picture 6" descr="A diagram of a number">
            <a:extLst>
              <a:ext uri="{FF2B5EF4-FFF2-40B4-BE49-F238E27FC236}">
                <a16:creationId xmlns:a16="http://schemas.microsoft.com/office/drawing/2014/main" id="{8999EC71-C342-9EE4-49BD-8888B66640A6}"/>
              </a:ext>
            </a:extLst>
          </p:cNvPr>
          <p:cNvPicPr>
            <a:picLocks noChangeAspect="1"/>
          </p:cNvPicPr>
          <p:nvPr/>
        </p:nvPicPr>
        <p:blipFill>
          <a:blip r:embed="rId6" cstate="print">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571489" y="2615643"/>
            <a:ext cx="5723044" cy="3576567"/>
          </a:xfrm>
          <a:prstGeom prst="rect">
            <a:avLst/>
          </a:prstGeom>
          <a:noFill/>
          <a:ln>
            <a:noFill/>
          </a:ln>
        </p:spPr>
      </p:pic>
      <p:sp>
        <p:nvSpPr>
          <p:cNvPr id="8" name="TextBox 7">
            <a:extLst>
              <a:ext uri="{FF2B5EF4-FFF2-40B4-BE49-F238E27FC236}">
                <a16:creationId xmlns:a16="http://schemas.microsoft.com/office/drawing/2014/main" id="{A0B16A2B-A0FE-16DF-8C9D-F4C16B137BFA}"/>
              </a:ext>
            </a:extLst>
          </p:cNvPr>
          <p:cNvSpPr txBox="1"/>
          <p:nvPr/>
        </p:nvSpPr>
        <p:spPr>
          <a:xfrm>
            <a:off x="6096000" y="5959531"/>
            <a:ext cx="3388107" cy="338554"/>
          </a:xfrm>
          <a:prstGeom prst="rect">
            <a:avLst/>
          </a:prstGeom>
          <a:noFill/>
        </p:spPr>
        <p:txBody>
          <a:bodyPr wrap="none" rtlCol="0">
            <a:spAutoFit/>
          </a:bodyPr>
          <a:lstStyle/>
          <a:p>
            <a:r>
              <a:rPr lang="en-IN" sz="1600" i="1" dirty="0"/>
              <a:t>* Pair plot only for selected variables</a:t>
            </a:r>
          </a:p>
        </p:txBody>
      </p:sp>
      <p:pic>
        <p:nvPicPr>
          <p:cNvPr id="19" name="Audio 18">
            <a:extLst>
              <a:ext uri="{FF2B5EF4-FFF2-40B4-BE49-F238E27FC236}">
                <a16:creationId xmlns:a16="http://schemas.microsoft.com/office/drawing/2014/main" id="{40F0B015-7954-4632-1463-E32181F550F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178951145"/>
      </p:ext>
    </p:extLst>
  </p:cSld>
  <p:clrMapOvr>
    <a:masterClrMapping/>
  </p:clrMapOvr>
  <mc:AlternateContent xmlns:mc="http://schemas.openxmlformats.org/markup-compatibility/2006">
    <mc:Choice xmlns:p14="http://schemas.microsoft.com/office/powerpoint/2010/main" Requires="p14">
      <p:transition spd="slow" p14:dur="2000" advTm="61227"/>
    </mc:Choice>
    <mc:Fallback>
      <p:transition spd="slow" advTm="612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492E326-200A-38D9-A35A-E8A08B3706D4}"/>
              </a:ext>
            </a:extLst>
          </p:cNvPr>
          <p:cNvSpPr/>
          <p:nvPr/>
        </p:nvSpPr>
        <p:spPr>
          <a:xfrm>
            <a:off x="7374468" y="681037"/>
            <a:ext cx="4089399" cy="7260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0DFCBC6-8FBD-CA57-8D20-E12CE41898CC}"/>
              </a:ext>
            </a:extLst>
          </p:cNvPr>
          <p:cNvSpPr>
            <a:spLocks noGrp="1"/>
          </p:cNvSpPr>
          <p:nvPr>
            <p:ph type="title"/>
          </p:nvPr>
        </p:nvSpPr>
        <p:spPr>
          <a:xfrm>
            <a:off x="507999" y="365125"/>
            <a:ext cx="11065933" cy="1325563"/>
          </a:xfrm>
        </p:spPr>
        <p:txBody>
          <a:bodyPr>
            <a:normAutofit/>
          </a:bodyPr>
          <a:lstStyle/>
          <a:p>
            <a:pPr algn="ctr"/>
            <a:r>
              <a:rPr lang="en-IN" sz="4000" dirty="0">
                <a:solidFill>
                  <a:srgbClr val="156082"/>
                </a:solidFill>
                <a:latin typeface="Arial Narrow" panose="020B0606020202030204" pitchFamily="34" charset="0"/>
              </a:rPr>
              <a:t>B A C K W A R D   S T E P W I S E   R E G R E S </a:t>
            </a:r>
            <a:r>
              <a:rPr lang="en-IN" sz="4000" dirty="0" err="1">
                <a:solidFill>
                  <a:srgbClr val="156082"/>
                </a:solidFill>
                <a:latin typeface="Arial Narrow" panose="020B0606020202030204" pitchFamily="34" charset="0"/>
              </a:rPr>
              <a:t>S</a:t>
            </a:r>
            <a:r>
              <a:rPr lang="en-IN" sz="4000" dirty="0">
                <a:solidFill>
                  <a:srgbClr val="156082"/>
                </a:solidFill>
                <a:latin typeface="Arial Narrow" panose="020B0606020202030204" pitchFamily="34" charset="0"/>
              </a:rPr>
              <a:t> I O N </a:t>
            </a:r>
          </a:p>
        </p:txBody>
      </p:sp>
      <p:sp>
        <p:nvSpPr>
          <p:cNvPr id="6" name="TextBox 5">
            <a:extLst>
              <a:ext uri="{FF2B5EF4-FFF2-40B4-BE49-F238E27FC236}">
                <a16:creationId xmlns:a16="http://schemas.microsoft.com/office/drawing/2014/main" id="{FABCDA08-D0D0-CECD-C759-470EAEFCEE19}"/>
              </a:ext>
            </a:extLst>
          </p:cNvPr>
          <p:cNvSpPr txBox="1"/>
          <p:nvPr/>
        </p:nvSpPr>
        <p:spPr>
          <a:xfrm>
            <a:off x="728133" y="2304911"/>
            <a:ext cx="4733291" cy="2246769"/>
          </a:xfrm>
          <a:prstGeom prst="rect">
            <a:avLst/>
          </a:prstGeom>
          <a:noFill/>
        </p:spPr>
        <p:txBody>
          <a:bodyPr wrap="square" rtlCol="0">
            <a:spAutoFit/>
          </a:bodyPr>
          <a:lstStyle/>
          <a:p>
            <a:pPr algn="just"/>
            <a:r>
              <a:rPr lang="en-US" sz="2000" dirty="0"/>
              <a:t>Backward stepwise regression is a method where you start with all possible variables in a model and remove the least important ones one by one until only the significant variables remain. This helps simplify the model while keeping its predictive power.</a:t>
            </a:r>
            <a:endParaRPr lang="en-IN" sz="2000" dirty="0"/>
          </a:p>
        </p:txBody>
      </p:sp>
      <p:sp>
        <p:nvSpPr>
          <p:cNvPr id="7" name="TextBox 6">
            <a:extLst>
              <a:ext uri="{FF2B5EF4-FFF2-40B4-BE49-F238E27FC236}">
                <a16:creationId xmlns:a16="http://schemas.microsoft.com/office/drawing/2014/main" id="{3784CD7D-4056-76F4-48F5-DFDBAE328A9F}"/>
              </a:ext>
            </a:extLst>
          </p:cNvPr>
          <p:cNvSpPr txBox="1"/>
          <p:nvPr/>
        </p:nvSpPr>
        <p:spPr>
          <a:xfrm>
            <a:off x="5732357" y="6492875"/>
            <a:ext cx="4737259" cy="584775"/>
          </a:xfrm>
          <a:prstGeom prst="rect">
            <a:avLst/>
          </a:prstGeom>
          <a:noFill/>
        </p:spPr>
        <p:txBody>
          <a:bodyPr wrap="none" rtlCol="0">
            <a:spAutoFit/>
          </a:bodyPr>
          <a:lstStyle/>
          <a:p>
            <a:r>
              <a:rPr lang="en-IN" sz="1600" i="1" kern="100" dirty="0">
                <a:solidFill>
                  <a:srgbClr val="000000"/>
                </a:solidFill>
                <a:effectLst/>
                <a:latin typeface="Aptos" panose="020B0004020202020204" pitchFamily="34" charset="0"/>
                <a:ea typeface="Aptos" panose="020B0004020202020204" pitchFamily="34" charset="0"/>
                <a:cs typeface="Arial" panose="020B0604020202020204" pitchFamily="34" charset="0"/>
              </a:rPr>
              <a:t>*Image not of full value because of space constraint</a:t>
            </a:r>
            <a:endParaRPr lang="en-IN" sz="1600" kern="1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p>
            <a:endParaRPr lang="en-IN" sz="1600" dirty="0"/>
          </a:p>
        </p:txBody>
      </p:sp>
      <p:pic>
        <p:nvPicPr>
          <p:cNvPr id="3" name="Picture 2" descr="A screenshot of a computer screen&#10;&#10;Description automatically generated">
            <a:extLst>
              <a:ext uri="{FF2B5EF4-FFF2-40B4-BE49-F238E27FC236}">
                <a16:creationId xmlns:a16="http://schemas.microsoft.com/office/drawing/2014/main" id="{556BABF9-9700-8560-3776-8F096953016A}"/>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5842422" y="1614593"/>
            <a:ext cx="5731510" cy="4678680"/>
          </a:xfrm>
          <a:prstGeom prst="rect">
            <a:avLst/>
          </a:prstGeom>
        </p:spPr>
      </p:pic>
      <p:pic>
        <p:nvPicPr>
          <p:cNvPr id="9" name="Audio 8">
            <a:extLst>
              <a:ext uri="{FF2B5EF4-FFF2-40B4-BE49-F238E27FC236}">
                <a16:creationId xmlns:a16="http://schemas.microsoft.com/office/drawing/2014/main" id="{ACD2044A-415E-B9EB-5B84-311B6A88E12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29283187"/>
      </p:ext>
    </p:extLst>
  </p:cSld>
  <p:clrMapOvr>
    <a:masterClrMapping/>
  </p:clrMapOvr>
  <mc:AlternateContent xmlns:mc="http://schemas.openxmlformats.org/markup-compatibility/2006">
    <mc:Choice xmlns:p14="http://schemas.microsoft.com/office/powerpoint/2010/main" Requires="p14">
      <p:transition spd="slow" p14:dur="2000" advTm="22913"/>
    </mc:Choice>
    <mc:Fallback>
      <p:transition spd="slow" advTm="229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0455-1A15-2C79-2687-2CEF2F0582BE}"/>
              </a:ext>
            </a:extLst>
          </p:cNvPr>
          <p:cNvSpPr>
            <a:spLocks noGrp="1"/>
          </p:cNvSpPr>
          <p:nvPr>
            <p:ph type="title"/>
          </p:nvPr>
        </p:nvSpPr>
        <p:spPr/>
        <p:txBody>
          <a:bodyPr>
            <a:normAutofit/>
          </a:bodyPr>
          <a:lstStyle/>
          <a:p>
            <a:r>
              <a:rPr lang="en-IN" sz="4000" dirty="0">
                <a:solidFill>
                  <a:srgbClr val="156082"/>
                </a:solidFill>
                <a:latin typeface="Arial Narrow" panose="020B0606020202030204" pitchFamily="34" charset="0"/>
              </a:rPr>
              <a:t>P C A</a:t>
            </a:r>
            <a:br>
              <a:rPr lang="en-IN" dirty="0">
                <a:solidFill>
                  <a:srgbClr val="156082"/>
                </a:solidFill>
                <a:latin typeface="Arial Narrow" panose="020B0606020202030204" pitchFamily="34" charset="0"/>
              </a:rPr>
            </a:br>
            <a:r>
              <a:rPr lang="en-IN" sz="3200" dirty="0">
                <a:solidFill>
                  <a:srgbClr val="156082"/>
                </a:solidFill>
                <a:latin typeface="Arial Narrow" panose="020B0606020202030204" pitchFamily="34" charset="0"/>
              </a:rPr>
              <a:t>(P R I N C I P A L   C O M P O N E N T   A N A L Y S I S)</a:t>
            </a:r>
          </a:p>
        </p:txBody>
      </p:sp>
      <p:sp>
        <p:nvSpPr>
          <p:cNvPr id="5" name="Rectangle: Rounded Corners 4">
            <a:extLst>
              <a:ext uri="{FF2B5EF4-FFF2-40B4-BE49-F238E27FC236}">
                <a16:creationId xmlns:a16="http://schemas.microsoft.com/office/drawing/2014/main" id="{5D632DB1-910F-3C28-DFE4-F3836BE0D312}"/>
              </a:ext>
            </a:extLst>
          </p:cNvPr>
          <p:cNvSpPr/>
          <p:nvPr/>
        </p:nvSpPr>
        <p:spPr>
          <a:xfrm>
            <a:off x="2260601" y="365125"/>
            <a:ext cx="6959599" cy="7260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084292F-1E46-5BC1-8773-293DFFF4D639}"/>
              </a:ext>
            </a:extLst>
          </p:cNvPr>
          <p:cNvSpPr txBox="1"/>
          <p:nvPr/>
        </p:nvSpPr>
        <p:spPr>
          <a:xfrm>
            <a:off x="1267883" y="1911724"/>
            <a:ext cx="1779270" cy="369332"/>
          </a:xfrm>
          <a:prstGeom prst="rect">
            <a:avLst/>
          </a:prstGeom>
          <a:noFill/>
        </p:spPr>
        <p:txBody>
          <a:bodyPr wrap="none" rtlCol="0">
            <a:spAutoFit/>
          </a:bodyPr>
          <a:lstStyle/>
          <a:p>
            <a:r>
              <a:rPr lang="en-IN" dirty="0"/>
              <a:t>For All Variables</a:t>
            </a:r>
          </a:p>
        </p:txBody>
      </p:sp>
      <p:sp>
        <p:nvSpPr>
          <p:cNvPr id="9" name="TextBox 8">
            <a:extLst>
              <a:ext uri="{FF2B5EF4-FFF2-40B4-BE49-F238E27FC236}">
                <a16:creationId xmlns:a16="http://schemas.microsoft.com/office/drawing/2014/main" id="{E9997972-BC3A-1E23-19C2-654EDA4EA0F8}"/>
              </a:ext>
            </a:extLst>
          </p:cNvPr>
          <p:cNvSpPr txBox="1"/>
          <p:nvPr/>
        </p:nvSpPr>
        <p:spPr>
          <a:xfrm>
            <a:off x="7061201" y="1911724"/>
            <a:ext cx="2404889" cy="369332"/>
          </a:xfrm>
          <a:prstGeom prst="rect">
            <a:avLst/>
          </a:prstGeom>
          <a:noFill/>
        </p:spPr>
        <p:txBody>
          <a:bodyPr wrap="none" rtlCol="0">
            <a:spAutoFit/>
          </a:bodyPr>
          <a:lstStyle/>
          <a:p>
            <a:r>
              <a:rPr lang="en-IN" dirty="0"/>
              <a:t>For Selected Variables</a:t>
            </a:r>
          </a:p>
        </p:txBody>
      </p:sp>
      <p:pic>
        <p:nvPicPr>
          <p:cNvPr id="3" name="Picture 2" descr="A diagram of a graph&#10;&#10;Description automatically generated">
            <a:extLst>
              <a:ext uri="{FF2B5EF4-FFF2-40B4-BE49-F238E27FC236}">
                <a16:creationId xmlns:a16="http://schemas.microsoft.com/office/drawing/2014/main" id="{301C7CED-1B56-BAE9-80BB-F0A248F37ABC}"/>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944246" y="2497891"/>
            <a:ext cx="4556896" cy="3994983"/>
          </a:xfrm>
          <a:prstGeom prst="rect">
            <a:avLst/>
          </a:prstGeom>
        </p:spPr>
      </p:pic>
      <p:pic>
        <p:nvPicPr>
          <p:cNvPr id="4" name="Picture 3" descr="A graph of a graph of values">
            <a:extLst>
              <a:ext uri="{FF2B5EF4-FFF2-40B4-BE49-F238E27FC236}">
                <a16:creationId xmlns:a16="http://schemas.microsoft.com/office/drawing/2014/main" id="{FB32F45B-E68C-DAFF-24CE-93999B67D3B6}"/>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6490090" y="2497891"/>
            <a:ext cx="4479901" cy="3994983"/>
          </a:xfrm>
          <a:prstGeom prst="rect">
            <a:avLst/>
          </a:prstGeom>
        </p:spPr>
      </p:pic>
      <p:pic>
        <p:nvPicPr>
          <p:cNvPr id="30" name="Audio 29">
            <a:extLst>
              <a:ext uri="{FF2B5EF4-FFF2-40B4-BE49-F238E27FC236}">
                <a16:creationId xmlns:a16="http://schemas.microsoft.com/office/drawing/2014/main" id="{F50F73FA-E43D-8FB5-CF1B-A07DF4243083}"/>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819548497"/>
      </p:ext>
    </p:extLst>
  </p:cSld>
  <p:clrMapOvr>
    <a:masterClrMapping/>
  </p:clrMapOvr>
  <mc:AlternateContent xmlns:mc="http://schemas.openxmlformats.org/markup-compatibility/2006">
    <mc:Choice xmlns:p14="http://schemas.microsoft.com/office/powerpoint/2010/main" Requires="p14">
      <p:transition spd="slow" p14:dur="2000" advTm="34337"/>
    </mc:Choice>
    <mc:Fallback>
      <p:transition spd="slow" advTm="343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A968A75-0AF5-B6C2-AC86-5881008DE1C3}"/>
              </a:ext>
            </a:extLst>
          </p:cNvPr>
          <p:cNvSpPr/>
          <p:nvPr/>
        </p:nvSpPr>
        <p:spPr>
          <a:xfrm>
            <a:off x="838200" y="533400"/>
            <a:ext cx="5588000" cy="86948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88D8EED-C94D-FAF1-6BB1-8C1A49139F32}"/>
              </a:ext>
            </a:extLst>
          </p:cNvPr>
          <p:cNvSpPr>
            <a:spLocks noGrp="1"/>
          </p:cNvSpPr>
          <p:nvPr>
            <p:ph type="title"/>
          </p:nvPr>
        </p:nvSpPr>
        <p:spPr/>
        <p:txBody>
          <a:bodyPr>
            <a:normAutofit/>
          </a:bodyPr>
          <a:lstStyle/>
          <a:p>
            <a:r>
              <a:rPr lang="en-US" sz="6600" dirty="0">
                <a:solidFill>
                  <a:srgbClr val="156082"/>
                </a:solidFill>
                <a:latin typeface="Aptos Narrow" panose="020B0004020202020204" pitchFamily="34" charset="0"/>
              </a:rPr>
              <a:t>A L G O R I T H M </a:t>
            </a:r>
            <a:endParaRPr lang="en-IN" sz="6600" dirty="0">
              <a:solidFill>
                <a:srgbClr val="156082"/>
              </a:solidFill>
              <a:latin typeface="Aptos Narrow" panose="020B0004020202020204" pitchFamily="34" charset="0"/>
            </a:endParaRPr>
          </a:p>
        </p:txBody>
      </p:sp>
      <p:sp>
        <p:nvSpPr>
          <p:cNvPr id="5" name="TextBox 4">
            <a:extLst>
              <a:ext uri="{FF2B5EF4-FFF2-40B4-BE49-F238E27FC236}">
                <a16:creationId xmlns:a16="http://schemas.microsoft.com/office/drawing/2014/main" id="{487E3839-5B36-3D27-514C-CEFDDDC4AB94}"/>
              </a:ext>
            </a:extLst>
          </p:cNvPr>
          <p:cNvSpPr txBox="1"/>
          <p:nvPr/>
        </p:nvSpPr>
        <p:spPr>
          <a:xfrm>
            <a:off x="2472267" y="3149600"/>
            <a:ext cx="1200970" cy="707886"/>
          </a:xfrm>
          <a:prstGeom prst="rect">
            <a:avLst/>
          </a:prstGeom>
          <a:noFill/>
        </p:spPr>
        <p:txBody>
          <a:bodyPr wrap="none" rtlCol="0">
            <a:spAutoFit/>
          </a:bodyPr>
          <a:lstStyle/>
          <a:p>
            <a:r>
              <a:rPr lang="en-US" sz="4000" dirty="0"/>
              <a:t>KNN</a:t>
            </a:r>
            <a:endParaRPr lang="en-IN" sz="4000" dirty="0"/>
          </a:p>
        </p:txBody>
      </p:sp>
      <p:sp>
        <p:nvSpPr>
          <p:cNvPr id="6" name="TextBox 5">
            <a:extLst>
              <a:ext uri="{FF2B5EF4-FFF2-40B4-BE49-F238E27FC236}">
                <a16:creationId xmlns:a16="http://schemas.microsoft.com/office/drawing/2014/main" id="{79A492CF-E605-8736-F130-2DAF0DBFA11E}"/>
              </a:ext>
            </a:extLst>
          </p:cNvPr>
          <p:cNvSpPr txBox="1"/>
          <p:nvPr/>
        </p:nvSpPr>
        <p:spPr>
          <a:xfrm>
            <a:off x="6798733" y="3149600"/>
            <a:ext cx="3104311" cy="707886"/>
          </a:xfrm>
          <a:prstGeom prst="rect">
            <a:avLst/>
          </a:prstGeom>
          <a:noFill/>
        </p:spPr>
        <p:txBody>
          <a:bodyPr wrap="none" rtlCol="0">
            <a:spAutoFit/>
          </a:bodyPr>
          <a:lstStyle/>
          <a:p>
            <a:r>
              <a:rPr lang="en-US" sz="4000" dirty="0"/>
              <a:t>NAÏVE BAYES</a:t>
            </a:r>
            <a:endParaRPr lang="en-IN" sz="4000" dirty="0"/>
          </a:p>
        </p:txBody>
      </p:sp>
      <p:pic>
        <p:nvPicPr>
          <p:cNvPr id="8" name="Graphic 7" descr="Circles with lines outline">
            <a:extLst>
              <a:ext uri="{FF2B5EF4-FFF2-40B4-BE49-F238E27FC236}">
                <a16:creationId xmlns:a16="http://schemas.microsoft.com/office/drawing/2014/main" id="{DDC9ED7A-90A1-565B-F544-42E496D4E7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15552" y="4021667"/>
            <a:ext cx="914400" cy="914400"/>
          </a:xfrm>
          <a:prstGeom prst="rect">
            <a:avLst/>
          </a:prstGeom>
        </p:spPr>
      </p:pic>
      <p:sp>
        <p:nvSpPr>
          <p:cNvPr id="9" name="Flowchart: Extract 8">
            <a:extLst>
              <a:ext uri="{FF2B5EF4-FFF2-40B4-BE49-F238E27FC236}">
                <a16:creationId xmlns:a16="http://schemas.microsoft.com/office/drawing/2014/main" id="{DEFC6947-F361-4172-F03A-B4C2C01C3B68}"/>
              </a:ext>
            </a:extLst>
          </p:cNvPr>
          <p:cNvSpPr/>
          <p:nvPr/>
        </p:nvSpPr>
        <p:spPr>
          <a:xfrm>
            <a:off x="2472267" y="4123267"/>
            <a:ext cx="220133" cy="186266"/>
          </a:xfrm>
          <a:prstGeom prst="flowChartExtra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10" name="Flowchart: Extract 9">
            <a:extLst>
              <a:ext uri="{FF2B5EF4-FFF2-40B4-BE49-F238E27FC236}">
                <a16:creationId xmlns:a16="http://schemas.microsoft.com/office/drawing/2014/main" id="{BD0D4FFD-6FCA-AEB0-1B5C-A0A8FF3DCC53}"/>
              </a:ext>
            </a:extLst>
          </p:cNvPr>
          <p:cNvSpPr/>
          <p:nvPr/>
        </p:nvSpPr>
        <p:spPr>
          <a:xfrm>
            <a:off x="2252134" y="4318000"/>
            <a:ext cx="220133" cy="186266"/>
          </a:xfrm>
          <a:prstGeom prst="flowChartExtra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pic>
        <p:nvPicPr>
          <p:cNvPr id="12" name="Graphic 11" descr="Germ outline">
            <a:extLst>
              <a:ext uri="{FF2B5EF4-FFF2-40B4-BE49-F238E27FC236}">
                <a16:creationId xmlns:a16="http://schemas.microsoft.com/office/drawing/2014/main" id="{B2A9909F-61AD-8435-49B2-3F1E5A2E3C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93688" y="4047066"/>
            <a:ext cx="914400" cy="914400"/>
          </a:xfrm>
          <a:prstGeom prst="rect">
            <a:avLst/>
          </a:prstGeom>
        </p:spPr>
      </p:pic>
      <p:pic>
        <p:nvPicPr>
          <p:cNvPr id="21" name="Audio 20">
            <a:extLst>
              <a:ext uri="{FF2B5EF4-FFF2-40B4-BE49-F238E27FC236}">
                <a16:creationId xmlns:a16="http://schemas.microsoft.com/office/drawing/2014/main" id="{8BB4D0DA-2389-A4AF-8D4C-2FB9F16F4210}"/>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02188008"/>
      </p:ext>
    </p:extLst>
  </p:cSld>
  <p:clrMapOvr>
    <a:masterClrMapping/>
  </p:clrMapOvr>
  <mc:AlternateContent xmlns:mc="http://schemas.openxmlformats.org/markup-compatibility/2006">
    <mc:Choice xmlns:p14="http://schemas.microsoft.com/office/powerpoint/2010/main" Requires="p14">
      <p:transition spd="slow" p14:dur="2000" advTm="9615"/>
    </mc:Choice>
    <mc:Fallback>
      <p:transition spd="slow" advTm="96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3BCD440-B448-D4F8-7FB3-530224CB6D0D}"/>
              </a:ext>
            </a:extLst>
          </p:cNvPr>
          <p:cNvSpPr/>
          <p:nvPr/>
        </p:nvSpPr>
        <p:spPr>
          <a:xfrm>
            <a:off x="2142068" y="664882"/>
            <a:ext cx="4961465" cy="7260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230E6DD-F0D5-9ABC-537D-C3447E0A20CA}"/>
              </a:ext>
            </a:extLst>
          </p:cNvPr>
          <p:cNvSpPr>
            <a:spLocks noGrp="1"/>
          </p:cNvSpPr>
          <p:nvPr>
            <p:ph type="title"/>
          </p:nvPr>
        </p:nvSpPr>
        <p:spPr/>
        <p:txBody>
          <a:bodyPr>
            <a:normAutofit/>
          </a:bodyPr>
          <a:lstStyle/>
          <a:p>
            <a:r>
              <a:rPr lang="en-US" sz="4000" dirty="0">
                <a:solidFill>
                  <a:srgbClr val="156082"/>
                </a:solidFill>
                <a:latin typeface="Aptos Narrow" panose="020B0004020202020204" pitchFamily="34" charset="0"/>
              </a:rPr>
              <a:t>K N </a:t>
            </a:r>
            <a:r>
              <a:rPr lang="en-US" sz="4000" dirty="0" err="1">
                <a:solidFill>
                  <a:srgbClr val="156082"/>
                </a:solidFill>
                <a:latin typeface="Aptos Narrow" panose="020B0004020202020204" pitchFamily="34" charset="0"/>
              </a:rPr>
              <a:t>N</a:t>
            </a:r>
            <a:r>
              <a:rPr lang="en-US" sz="4000" dirty="0">
                <a:solidFill>
                  <a:srgbClr val="156082"/>
                </a:solidFill>
                <a:latin typeface="Aptos Narrow" panose="020B0004020202020204" pitchFamily="34" charset="0"/>
              </a:rPr>
              <a:t>  C L A S </a:t>
            </a:r>
            <a:r>
              <a:rPr lang="en-US" sz="4000" dirty="0" err="1">
                <a:solidFill>
                  <a:srgbClr val="156082"/>
                </a:solidFill>
                <a:latin typeface="Aptos Narrow" panose="020B0004020202020204" pitchFamily="34" charset="0"/>
              </a:rPr>
              <a:t>S</a:t>
            </a:r>
            <a:r>
              <a:rPr lang="en-US" sz="4000" dirty="0">
                <a:solidFill>
                  <a:srgbClr val="156082"/>
                </a:solidFill>
                <a:latin typeface="Aptos Narrow" panose="020B0004020202020204" pitchFamily="34" charset="0"/>
              </a:rPr>
              <a:t> I F I C A T I O N </a:t>
            </a:r>
            <a:endParaRPr lang="en-IN" sz="4000" dirty="0">
              <a:solidFill>
                <a:srgbClr val="156082"/>
              </a:solidFill>
              <a:latin typeface="Aptos Narrow" panose="020B0004020202020204" pitchFamily="34" charset="0"/>
            </a:endParaRPr>
          </a:p>
        </p:txBody>
      </p:sp>
      <p:sp>
        <p:nvSpPr>
          <p:cNvPr id="5" name="TextBox 4">
            <a:extLst>
              <a:ext uri="{FF2B5EF4-FFF2-40B4-BE49-F238E27FC236}">
                <a16:creationId xmlns:a16="http://schemas.microsoft.com/office/drawing/2014/main" id="{70A5A5D3-3DDA-4AC3-DB17-F0A3F7E3B0E7}"/>
              </a:ext>
            </a:extLst>
          </p:cNvPr>
          <p:cNvSpPr txBox="1"/>
          <p:nvPr/>
        </p:nvSpPr>
        <p:spPr>
          <a:xfrm>
            <a:off x="1575100" y="3035797"/>
            <a:ext cx="761747" cy="400110"/>
          </a:xfrm>
          <a:prstGeom prst="rect">
            <a:avLst/>
          </a:prstGeom>
          <a:noFill/>
        </p:spPr>
        <p:txBody>
          <a:bodyPr wrap="none" rtlCol="0">
            <a:spAutoFit/>
          </a:bodyPr>
          <a:lstStyle/>
          <a:p>
            <a:r>
              <a:rPr lang="en-US" sz="2000" dirty="0"/>
              <a:t>K = 5 </a:t>
            </a:r>
            <a:endParaRPr lang="en-IN" sz="2000" dirty="0"/>
          </a:p>
        </p:txBody>
      </p:sp>
      <p:sp>
        <p:nvSpPr>
          <p:cNvPr id="6" name="TextBox 5">
            <a:extLst>
              <a:ext uri="{FF2B5EF4-FFF2-40B4-BE49-F238E27FC236}">
                <a16:creationId xmlns:a16="http://schemas.microsoft.com/office/drawing/2014/main" id="{7356DF57-6F91-BDB5-3166-6A374C46ABC5}"/>
              </a:ext>
            </a:extLst>
          </p:cNvPr>
          <p:cNvSpPr txBox="1"/>
          <p:nvPr/>
        </p:nvSpPr>
        <p:spPr>
          <a:xfrm>
            <a:off x="5630333" y="3035797"/>
            <a:ext cx="708848" cy="400110"/>
          </a:xfrm>
          <a:prstGeom prst="rect">
            <a:avLst/>
          </a:prstGeom>
          <a:noFill/>
        </p:spPr>
        <p:txBody>
          <a:bodyPr wrap="none" rtlCol="0">
            <a:spAutoFit/>
          </a:bodyPr>
          <a:lstStyle/>
          <a:p>
            <a:r>
              <a:rPr lang="en-US" sz="2000" dirty="0"/>
              <a:t>K = 7</a:t>
            </a:r>
            <a:endParaRPr lang="en-IN" sz="2000" dirty="0"/>
          </a:p>
        </p:txBody>
      </p:sp>
      <p:sp>
        <p:nvSpPr>
          <p:cNvPr id="7" name="TextBox 6">
            <a:extLst>
              <a:ext uri="{FF2B5EF4-FFF2-40B4-BE49-F238E27FC236}">
                <a16:creationId xmlns:a16="http://schemas.microsoft.com/office/drawing/2014/main" id="{EDD6565D-DECA-5202-A3D9-8A5A40DF75C4}"/>
              </a:ext>
            </a:extLst>
          </p:cNvPr>
          <p:cNvSpPr txBox="1"/>
          <p:nvPr/>
        </p:nvSpPr>
        <p:spPr>
          <a:xfrm>
            <a:off x="9632667" y="3035797"/>
            <a:ext cx="708848" cy="400110"/>
          </a:xfrm>
          <a:prstGeom prst="rect">
            <a:avLst/>
          </a:prstGeom>
          <a:noFill/>
        </p:spPr>
        <p:txBody>
          <a:bodyPr wrap="none" rtlCol="0">
            <a:spAutoFit/>
          </a:bodyPr>
          <a:lstStyle/>
          <a:p>
            <a:r>
              <a:rPr lang="en-US" sz="2000" dirty="0"/>
              <a:t>K = 9</a:t>
            </a:r>
            <a:endParaRPr lang="en-IN" sz="2000" dirty="0"/>
          </a:p>
        </p:txBody>
      </p:sp>
      <p:sp>
        <p:nvSpPr>
          <p:cNvPr id="9" name="Pentagon 8">
            <a:extLst>
              <a:ext uri="{FF2B5EF4-FFF2-40B4-BE49-F238E27FC236}">
                <a16:creationId xmlns:a16="http://schemas.microsoft.com/office/drawing/2014/main" id="{16551508-9BEA-EC3A-4B3A-625C8638B843}"/>
              </a:ext>
            </a:extLst>
          </p:cNvPr>
          <p:cNvSpPr/>
          <p:nvPr/>
        </p:nvSpPr>
        <p:spPr>
          <a:xfrm>
            <a:off x="1655382" y="2506912"/>
            <a:ext cx="601181" cy="499532"/>
          </a:xfrm>
          <a:prstGeom prst="pent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Heptagon 9">
            <a:extLst>
              <a:ext uri="{FF2B5EF4-FFF2-40B4-BE49-F238E27FC236}">
                <a16:creationId xmlns:a16="http://schemas.microsoft.com/office/drawing/2014/main" id="{B360CD66-213C-3C38-1CBA-3E8B2987441F}"/>
              </a:ext>
            </a:extLst>
          </p:cNvPr>
          <p:cNvSpPr/>
          <p:nvPr/>
        </p:nvSpPr>
        <p:spPr>
          <a:xfrm>
            <a:off x="5630333" y="2506912"/>
            <a:ext cx="708848" cy="499532"/>
          </a:xfrm>
          <a:prstGeom prst="heptag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Graphic 11" descr="Badge 9 outline">
            <a:extLst>
              <a:ext uri="{FF2B5EF4-FFF2-40B4-BE49-F238E27FC236}">
                <a16:creationId xmlns:a16="http://schemas.microsoft.com/office/drawing/2014/main" id="{9A2F71F8-5BFE-98C3-DFBD-12E03EC7E4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86500" y="2506912"/>
            <a:ext cx="601181" cy="528885"/>
          </a:xfrm>
          <a:prstGeom prst="rect">
            <a:avLst/>
          </a:prstGeom>
        </p:spPr>
      </p:pic>
      <p:pic>
        <p:nvPicPr>
          <p:cNvPr id="14" name="Graphic 13" descr="Crown outline">
            <a:extLst>
              <a:ext uri="{FF2B5EF4-FFF2-40B4-BE49-F238E27FC236}">
                <a16:creationId xmlns:a16="http://schemas.microsoft.com/office/drawing/2014/main" id="{882D1193-8C81-A98C-00D8-09368B8EB6B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28856" y="1990445"/>
            <a:ext cx="516467" cy="516467"/>
          </a:xfrm>
          <a:prstGeom prst="rect">
            <a:avLst/>
          </a:prstGeom>
        </p:spPr>
      </p:pic>
      <p:graphicFrame>
        <p:nvGraphicFramePr>
          <p:cNvPr id="19" name="Table 18">
            <a:extLst>
              <a:ext uri="{FF2B5EF4-FFF2-40B4-BE49-F238E27FC236}">
                <a16:creationId xmlns:a16="http://schemas.microsoft.com/office/drawing/2014/main" id="{F88FBA8F-A8C9-856F-05CF-81868063EFFE}"/>
              </a:ext>
            </a:extLst>
          </p:cNvPr>
          <p:cNvGraphicFramePr>
            <a:graphicFrameLocks noGrp="1"/>
          </p:cNvGraphicFramePr>
          <p:nvPr>
            <p:extLst>
              <p:ext uri="{D42A27DB-BD31-4B8C-83A1-F6EECF244321}">
                <p14:modId xmlns:p14="http://schemas.microsoft.com/office/powerpoint/2010/main" val="2062918371"/>
              </p:ext>
            </p:extLst>
          </p:nvPr>
        </p:nvGraphicFramePr>
        <p:xfrm>
          <a:off x="-323476" y="3690934"/>
          <a:ext cx="3797152" cy="1417320"/>
        </p:xfrm>
        <a:graphic>
          <a:graphicData uri="http://schemas.openxmlformats.org/drawingml/2006/table">
            <a:tbl>
              <a:tblPr firstRow="1" firstCol="1" bandRow="1">
                <a:tableStyleId>{5C22544A-7EE6-4342-B048-85BDC9FD1C3A}</a:tableStyleId>
              </a:tblPr>
              <a:tblGrid>
                <a:gridCol w="2837871">
                  <a:extLst>
                    <a:ext uri="{9D8B030D-6E8A-4147-A177-3AD203B41FA5}">
                      <a16:colId xmlns:a16="http://schemas.microsoft.com/office/drawing/2014/main" val="4207748865"/>
                    </a:ext>
                  </a:extLst>
                </a:gridCol>
                <a:gridCol w="959281">
                  <a:extLst>
                    <a:ext uri="{9D8B030D-6E8A-4147-A177-3AD203B41FA5}">
                      <a16:colId xmlns:a16="http://schemas.microsoft.com/office/drawing/2014/main" val="81915064"/>
                    </a:ext>
                  </a:extLst>
                </a:gridCol>
              </a:tblGrid>
              <a:tr h="198120">
                <a:tc>
                  <a:txBody>
                    <a:bodyPr/>
                    <a:lstStyle/>
                    <a:p>
                      <a:pPr marL="0" marR="0" algn="ctr">
                        <a:lnSpc>
                          <a:spcPct val="107000"/>
                        </a:lnSpc>
                        <a:spcBef>
                          <a:spcPts val="0"/>
                        </a:spcBef>
                        <a:spcAft>
                          <a:spcPts val="0"/>
                        </a:spcAft>
                      </a:pPr>
                      <a:r>
                        <a:rPr lang="en-IN" sz="1800" b="1" kern="0" dirty="0">
                          <a:solidFill>
                            <a:srgbClr val="156082"/>
                          </a:solidFill>
                          <a:effectLst/>
                        </a:rPr>
                        <a:t>Accuracy</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78.38%</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172966641"/>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Recall</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42.42%</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298070271"/>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Precision</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60.02%</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865775593"/>
                  </a:ext>
                </a:extLst>
              </a:tr>
              <a:tr h="198120">
                <a:tc>
                  <a:txBody>
                    <a:bodyPr/>
                    <a:lstStyle/>
                    <a:p>
                      <a:pPr marL="0" marR="0" algn="ctr">
                        <a:lnSpc>
                          <a:spcPct val="107000"/>
                        </a:lnSpc>
                        <a:spcBef>
                          <a:spcPts val="0"/>
                        </a:spcBef>
                        <a:spcAft>
                          <a:spcPts val="0"/>
                        </a:spcAft>
                      </a:pPr>
                      <a:r>
                        <a:rPr lang="en-IN" sz="1800" b="1" kern="0">
                          <a:solidFill>
                            <a:srgbClr val="156082"/>
                          </a:solidFill>
                          <a:effectLst/>
                        </a:rPr>
                        <a:t>Specificity</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90.44%</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133607822"/>
                  </a:ext>
                </a:extLst>
              </a:tr>
              <a:tr h="198120">
                <a:tc>
                  <a:txBody>
                    <a:bodyPr/>
                    <a:lstStyle/>
                    <a:p>
                      <a:pPr marL="0" marR="0" algn="ctr">
                        <a:lnSpc>
                          <a:spcPct val="107000"/>
                        </a:lnSpc>
                        <a:spcBef>
                          <a:spcPts val="0"/>
                        </a:spcBef>
                        <a:spcAft>
                          <a:spcPts val="0"/>
                        </a:spcAft>
                      </a:pPr>
                      <a:r>
                        <a:rPr lang="en-IN" sz="1800" b="1" kern="0">
                          <a:solidFill>
                            <a:srgbClr val="156082"/>
                          </a:solidFill>
                          <a:effectLst/>
                        </a:rPr>
                        <a:t>F1 Score</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dirty="0">
                          <a:solidFill>
                            <a:srgbClr val="156082"/>
                          </a:solidFill>
                          <a:effectLst/>
                        </a:rPr>
                        <a:t>49.00%</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803727119"/>
                  </a:ext>
                </a:extLst>
              </a:tr>
            </a:tbl>
          </a:graphicData>
        </a:graphic>
      </p:graphicFrame>
      <p:graphicFrame>
        <p:nvGraphicFramePr>
          <p:cNvPr id="20" name="Table 19">
            <a:extLst>
              <a:ext uri="{FF2B5EF4-FFF2-40B4-BE49-F238E27FC236}">
                <a16:creationId xmlns:a16="http://schemas.microsoft.com/office/drawing/2014/main" id="{3392AD81-E81A-3C76-8436-1674AC3A84A3}"/>
              </a:ext>
            </a:extLst>
          </p:cNvPr>
          <p:cNvGraphicFramePr>
            <a:graphicFrameLocks noGrp="1"/>
          </p:cNvGraphicFramePr>
          <p:nvPr>
            <p:extLst>
              <p:ext uri="{D42A27DB-BD31-4B8C-83A1-F6EECF244321}">
                <p14:modId xmlns:p14="http://schemas.microsoft.com/office/powerpoint/2010/main" val="2313987189"/>
              </p:ext>
            </p:extLst>
          </p:nvPr>
        </p:nvGraphicFramePr>
        <p:xfrm>
          <a:off x="3731757" y="3690934"/>
          <a:ext cx="3797151" cy="1417320"/>
        </p:xfrm>
        <a:graphic>
          <a:graphicData uri="http://schemas.openxmlformats.org/drawingml/2006/table">
            <a:tbl>
              <a:tblPr firstRow="1" firstCol="1" bandRow="1">
                <a:tableStyleId>{5C22544A-7EE6-4342-B048-85BDC9FD1C3A}</a:tableStyleId>
              </a:tblPr>
              <a:tblGrid>
                <a:gridCol w="2837871">
                  <a:extLst>
                    <a:ext uri="{9D8B030D-6E8A-4147-A177-3AD203B41FA5}">
                      <a16:colId xmlns:a16="http://schemas.microsoft.com/office/drawing/2014/main" val="2022303312"/>
                    </a:ext>
                  </a:extLst>
                </a:gridCol>
                <a:gridCol w="959280">
                  <a:extLst>
                    <a:ext uri="{9D8B030D-6E8A-4147-A177-3AD203B41FA5}">
                      <a16:colId xmlns:a16="http://schemas.microsoft.com/office/drawing/2014/main" val="1829273310"/>
                    </a:ext>
                  </a:extLst>
                </a:gridCol>
              </a:tblGrid>
              <a:tr h="198120">
                <a:tc>
                  <a:txBody>
                    <a:bodyPr/>
                    <a:lstStyle/>
                    <a:p>
                      <a:pPr marL="0" marR="0" algn="ctr">
                        <a:lnSpc>
                          <a:spcPct val="107000"/>
                        </a:lnSpc>
                        <a:spcBef>
                          <a:spcPts val="0"/>
                        </a:spcBef>
                        <a:spcAft>
                          <a:spcPts val="0"/>
                        </a:spcAft>
                      </a:pPr>
                      <a:r>
                        <a:rPr lang="en-IN" sz="1800" b="1" kern="0">
                          <a:solidFill>
                            <a:srgbClr val="156082"/>
                          </a:solidFill>
                          <a:effectLst/>
                        </a:rPr>
                        <a:t>Accuracy</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79.09%</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960921228"/>
                  </a:ext>
                </a:extLst>
              </a:tr>
              <a:tr h="198120">
                <a:tc>
                  <a:txBody>
                    <a:bodyPr/>
                    <a:lstStyle/>
                    <a:p>
                      <a:pPr marL="0" marR="0" algn="ctr">
                        <a:lnSpc>
                          <a:spcPct val="107000"/>
                        </a:lnSpc>
                        <a:spcBef>
                          <a:spcPts val="0"/>
                        </a:spcBef>
                        <a:spcAft>
                          <a:spcPts val="0"/>
                        </a:spcAft>
                      </a:pPr>
                      <a:r>
                        <a:rPr lang="en-IN" sz="1800" b="1" kern="0">
                          <a:solidFill>
                            <a:srgbClr val="156082"/>
                          </a:solidFill>
                          <a:effectLst/>
                        </a:rPr>
                        <a:t>Recall</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42.10%</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920522818"/>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Precision</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62.80%</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586805102"/>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Specificity</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dirty="0">
                          <a:solidFill>
                            <a:srgbClr val="156082"/>
                          </a:solidFill>
                          <a:effectLst/>
                        </a:rPr>
                        <a:t>91.59%</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939234110"/>
                  </a:ext>
                </a:extLst>
              </a:tr>
              <a:tr h="198120">
                <a:tc>
                  <a:txBody>
                    <a:bodyPr/>
                    <a:lstStyle/>
                    <a:p>
                      <a:pPr marL="0" marR="0" algn="ctr">
                        <a:lnSpc>
                          <a:spcPct val="107000"/>
                        </a:lnSpc>
                        <a:spcBef>
                          <a:spcPts val="0"/>
                        </a:spcBef>
                        <a:spcAft>
                          <a:spcPts val="0"/>
                        </a:spcAft>
                      </a:pPr>
                      <a:r>
                        <a:rPr lang="en-IN" sz="1800" b="1" kern="0">
                          <a:solidFill>
                            <a:srgbClr val="156082"/>
                          </a:solidFill>
                          <a:effectLst/>
                        </a:rPr>
                        <a:t>F1 Score</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dirty="0">
                          <a:solidFill>
                            <a:srgbClr val="156082"/>
                          </a:solidFill>
                          <a:effectLst/>
                        </a:rPr>
                        <a:t>50.03%</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97054210"/>
                  </a:ext>
                </a:extLst>
              </a:tr>
            </a:tbl>
          </a:graphicData>
        </a:graphic>
      </p:graphicFrame>
      <p:graphicFrame>
        <p:nvGraphicFramePr>
          <p:cNvPr id="21" name="Table 20">
            <a:extLst>
              <a:ext uri="{FF2B5EF4-FFF2-40B4-BE49-F238E27FC236}">
                <a16:creationId xmlns:a16="http://schemas.microsoft.com/office/drawing/2014/main" id="{0713FB80-203A-3278-8230-B44C3F67C616}"/>
              </a:ext>
            </a:extLst>
          </p:cNvPr>
          <p:cNvGraphicFramePr>
            <a:graphicFrameLocks noGrp="1"/>
          </p:cNvGraphicFramePr>
          <p:nvPr>
            <p:extLst>
              <p:ext uri="{D42A27DB-BD31-4B8C-83A1-F6EECF244321}">
                <p14:modId xmlns:p14="http://schemas.microsoft.com/office/powerpoint/2010/main" val="284820267"/>
              </p:ext>
            </p:extLst>
          </p:nvPr>
        </p:nvGraphicFramePr>
        <p:xfrm>
          <a:off x="7731751" y="3690934"/>
          <a:ext cx="3962400" cy="1417320"/>
        </p:xfrm>
        <a:graphic>
          <a:graphicData uri="http://schemas.openxmlformats.org/drawingml/2006/table">
            <a:tbl>
              <a:tblPr firstRow="1" firstCol="1" bandRow="1">
                <a:tableStyleId>{5C22544A-7EE6-4342-B048-85BDC9FD1C3A}</a:tableStyleId>
              </a:tblPr>
              <a:tblGrid>
                <a:gridCol w="2961373">
                  <a:extLst>
                    <a:ext uri="{9D8B030D-6E8A-4147-A177-3AD203B41FA5}">
                      <a16:colId xmlns:a16="http://schemas.microsoft.com/office/drawing/2014/main" val="2643319112"/>
                    </a:ext>
                  </a:extLst>
                </a:gridCol>
                <a:gridCol w="1001027">
                  <a:extLst>
                    <a:ext uri="{9D8B030D-6E8A-4147-A177-3AD203B41FA5}">
                      <a16:colId xmlns:a16="http://schemas.microsoft.com/office/drawing/2014/main" val="2225971151"/>
                    </a:ext>
                  </a:extLst>
                </a:gridCol>
              </a:tblGrid>
              <a:tr h="198120">
                <a:tc>
                  <a:txBody>
                    <a:bodyPr/>
                    <a:lstStyle/>
                    <a:p>
                      <a:pPr marL="0" marR="0" algn="ctr">
                        <a:lnSpc>
                          <a:spcPct val="107000"/>
                        </a:lnSpc>
                        <a:spcBef>
                          <a:spcPts val="0"/>
                        </a:spcBef>
                        <a:spcAft>
                          <a:spcPts val="0"/>
                        </a:spcAft>
                      </a:pPr>
                      <a:r>
                        <a:rPr lang="en-IN" sz="1800" b="1" kern="0">
                          <a:solidFill>
                            <a:srgbClr val="156082"/>
                          </a:solidFill>
                          <a:effectLst/>
                        </a:rPr>
                        <a:t>Accuracy</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79.17%</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100811987"/>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Recall</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41.50%</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852245302"/>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Precision</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63.40%</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894988894"/>
                  </a:ext>
                </a:extLst>
              </a:tr>
              <a:tr h="198120">
                <a:tc>
                  <a:txBody>
                    <a:bodyPr/>
                    <a:lstStyle/>
                    <a:p>
                      <a:pPr marL="0" marR="0" algn="ctr">
                        <a:lnSpc>
                          <a:spcPct val="107000"/>
                        </a:lnSpc>
                        <a:spcBef>
                          <a:spcPts val="0"/>
                        </a:spcBef>
                        <a:spcAft>
                          <a:spcPts val="0"/>
                        </a:spcAft>
                      </a:pPr>
                      <a:r>
                        <a:rPr lang="en-IN" sz="1800" b="1" kern="0" dirty="0">
                          <a:solidFill>
                            <a:srgbClr val="156082"/>
                          </a:solidFill>
                          <a:effectLst/>
                        </a:rPr>
                        <a:t>Specificity</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a:solidFill>
                            <a:srgbClr val="156082"/>
                          </a:solidFill>
                          <a:effectLst/>
                        </a:rPr>
                        <a:t>91.59%</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853813897"/>
                  </a:ext>
                </a:extLst>
              </a:tr>
              <a:tr h="198120">
                <a:tc>
                  <a:txBody>
                    <a:bodyPr/>
                    <a:lstStyle/>
                    <a:p>
                      <a:pPr marL="0" marR="0" algn="ctr">
                        <a:lnSpc>
                          <a:spcPct val="107000"/>
                        </a:lnSpc>
                        <a:spcBef>
                          <a:spcPts val="0"/>
                        </a:spcBef>
                        <a:spcAft>
                          <a:spcPts val="0"/>
                        </a:spcAft>
                      </a:pPr>
                      <a:r>
                        <a:rPr lang="en-IN" sz="1800" b="1" kern="0">
                          <a:solidFill>
                            <a:srgbClr val="156082"/>
                          </a:solidFill>
                          <a:effectLst/>
                        </a:rPr>
                        <a:t>F1 Score</a:t>
                      </a:r>
                      <a:endParaRPr lang="en-IN" sz="18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1" kern="0" dirty="0">
                          <a:solidFill>
                            <a:srgbClr val="156082"/>
                          </a:solidFill>
                          <a:effectLst/>
                        </a:rPr>
                        <a:t>50.10%</a:t>
                      </a:r>
                      <a:endParaRPr lang="en-IN" sz="18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725604651"/>
                  </a:ext>
                </a:extLst>
              </a:tr>
            </a:tbl>
          </a:graphicData>
        </a:graphic>
      </p:graphicFrame>
      <p:sp>
        <p:nvSpPr>
          <p:cNvPr id="22" name="TextBox 21">
            <a:extLst>
              <a:ext uri="{FF2B5EF4-FFF2-40B4-BE49-F238E27FC236}">
                <a16:creationId xmlns:a16="http://schemas.microsoft.com/office/drawing/2014/main" id="{F9F7E4CB-DB5D-33B9-263D-48428C9F922C}"/>
              </a:ext>
            </a:extLst>
          </p:cNvPr>
          <p:cNvSpPr txBox="1"/>
          <p:nvPr/>
        </p:nvSpPr>
        <p:spPr>
          <a:xfrm>
            <a:off x="3898603" y="5856052"/>
            <a:ext cx="4394793" cy="400110"/>
          </a:xfrm>
          <a:prstGeom prst="rect">
            <a:avLst/>
          </a:prstGeom>
          <a:noFill/>
        </p:spPr>
        <p:txBody>
          <a:bodyPr wrap="none" rtlCol="0">
            <a:spAutoFit/>
          </a:bodyPr>
          <a:lstStyle/>
          <a:p>
            <a:r>
              <a:rPr lang="en-US" sz="2000" dirty="0"/>
              <a:t>Scoring metrics from confusion matrix</a:t>
            </a:r>
            <a:endParaRPr lang="en-IN" sz="2000" dirty="0"/>
          </a:p>
        </p:txBody>
      </p:sp>
      <p:pic>
        <p:nvPicPr>
          <p:cNvPr id="13" name="Audio 12">
            <a:extLst>
              <a:ext uri="{FF2B5EF4-FFF2-40B4-BE49-F238E27FC236}">
                <a16:creationId xmlns:a16="http://schemas.microsoft.com/office/drawing/2014/main" id="{E6893C82-19FE-EA99-28B9-55795F5E707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09001255"/>
      </p:ext>
    </p:extLst>
  </p:cSld>
  <p:clrMapOvr>
    <a:masterClrMapping/>
  </p:clrMapOvr>
  <mc:AlternateContent xmlns:mc="http://schemas.openxmlformats.org/markup-compatibility/2006">
    <mc:Choice xmlns:p14="http://schemas.microsoft.com/office/powerpoint/2010/main" Requires="p14">
      <p:transition spd="slow" p14:dur="2000" advTm="41139"/>
    </mc:Choice>
    <mc:Fallback>
      <p:transition spd="slow" advTm="411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855D852-DEBE-E4C4-6708-CF9F29E179AD}"/>
              </a:ext>
            </a:extLst>
          </p:cNvPr>
          <p:cNvSpPr/>
          <p:nvPr/>
        </p:nvSpPr>
        <p:spPr>
          <a:xfrm>
            <a:off x="838199" y="664882"/>
            <a:ext cx="1879601" cy="7260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7299940-0F1A-6179-A526-4FFB195D6192}"/>
              </a:ext>
            </a:extLst>
          </p:cNvPr>
          <p:cNvSpPr>
            <a:spLocks noGrp="1"/>
          </p:cNvSpPr>
          <p:nvPr>
            <p:ph type="title"/>
          </p:nvPr>
        </p:nvSpPr>
        <p:spPr/>
        <p:txBody>
          <a:bodyPr>
            <a:normAutofit/>
          </a:bodyPr>
          <a:lstStyle/>
          <a:p>
            <a:r>
              <a:rPr lang="en-US" sz="4000" dirty="0">
                <a:solidFill>
                  <a:srgbClr val="156082"/>
                </a:solidFill>
                <a:latin typeface="Aptos Narrow" panose="020B0004020202020204" pitchFamily="34" charset="0"/>
              </a:rPr>
              <a:t>N A </a:t>
            </a:r>
            <a:r>
              <a:rPr kumimoji="0" lang="en-US" altLang="en-US" sz="4000" b="0" i="0" u="none" strike="noStrike" cap="none" normalizeH="0" baseline="0" dirty="0">
                <a:ln>
                  <a:noFill/>
                </a:ln>
                <a:solidFill>
                  <a:srgbClr val="156082"/>
                </a:solidFill>
                <a:effectLst/>
                <a:latin typeface="Aptos Narrow" panose="020B0004020202020204" pitchFamily="34" charset="0"/>
                <a:ea typeface="DengXian" panose="020B0503020204020204" pitchFamily="2" charset="-122"/>
                <a:cs typeface="Cordia New" panose="020B0304020202020204" pitchFamily="34" charset="-34"/>
              </a:rPr>
              <a:t>Ï </a:t>
            </a:r>
            <a:r>
              <a:rPr lang="en-US" sz="4000" dirty="0">
                <a:solidFill>
                  <a:srgbClr val="156082"/>
                </a:solidFill>
                <a:latin typeface="Aptos Narrow" panose="020B0004020202020204" pitchFamily="34" charset="0"/>
              </a:rPr>
              <a:t>V E   B A Y E S</a:t>
            </a:r>
            <a:endParaRPr lang="en-IN" sz="4000" dirty="0">
              <a:solidFill>
                <a:srgbClr val="156082"/>
              </a:solidFill>
              <a:latin typeface="Aptos Narrow" panose="020B0004020202020204" pitchFamily="34" charset="0"/>
            </a:endParaRPr>
          </a:p>
        </p:txBody>
      </p:sp>
      <p:sp>
        <p:nvSpPr>
          <p:cNvPr id="5" name="TextBox 4">
            <a:extLst>
              <a:ext uri="{FF2B5EF4-FFF2-40B4-BE49-F238E27FC236}">
                <a16:creationId xmlns:a16="http://schemas.microsoft.com/office/drawing/2014/main" id="{0012F6D6-F9FF-64BC-8984-75CA46370BA3}"/>
              </a:ext>
            </a:extLst>
          </p:cNvPr>
          <p:cNvSpPr txBox="1"/>
          <p:nvPr/>
        </p:nvSpPr>
        <p:spPr>
          <a:xfrm>
            <a:off x="2260558" y="2399062"/>
            <a:ext cx="2065950" cy="400110"/>
          </a:xfrm>
          <a:prstGeom prst="rect">
            <a:avLst/>
          </a:prstGeom>
          <a:noFill/>
        </p:spPr>
        <p:txBody>
          <a:bodyPr wrap="none" rtlCol="0">
            <a:spAutoFit/>
          </a:bodyPr>
          <a:lstStyle/>
          <a:p>
            <a:r>
              <a:rPr lang="en-US" sz="2000" dirty="0"/>
              <a:t>Confusion Matrix</a:t>
            </a:r>
            <a:endParaRPr lang="en-IN" sz="2000" dirty="0"/>
          </a:p>
        </p:txBody>
      </p:sp>
      <p:sp>
        <p:nvSpPr>
          <p:cNvPr id="6" name="TextBox 5">
            <a:extLst>
              <a:ext uri="{FF2B5EF4-FFF2-40B4-BE49-F238E27FC236}">
                <a16:creationId xmlns:a16="http://schemas.microsoft.com/office/drawing/2014/main" id="{330C2C04-A067-DA9E-171D-F7A9A54AA9F9}"/>
              </a:ext>
            </a:extLst>
          </p:cNvPr>
          <p:cNvSpPr txBox="1"/>
          <p:nvPr/>
        </p:nvSpPr>
        <p:spPr>
          <a:xfrm>
            <a:off x="7734206" y="2444690"/>
            <a:ext cx="1414041" cy="400110"/>
          </a:xfrm>
          <a:prstGeom prst="rect">
            <a:avLst/>
          </a:prstGeom>
          <a:noFill/>
        </p:spPr>
        <p:txBody>
          <a:bodyPr wrap="none" rtlCol="0">
            <a:spAutoFit/>
          </a:bodyPr>
          <a:lstStyle/>
          <a:p>
            <a:r>
              <a:rPr lang="en-US" sz="2000" dirty="0"/>
              <a:t>ROC Curve</a:t>
            </a:r>
            <a:endParaRPr lang="en-IN" sz="2000" dirty="0"/>
          </a:p>
        </p:txBody>
      </p:sp>
      <p:pic>
        <p:nvPicPr>
          <p:cNvPr id="8" name="Graphic 7" descr="Logarithmic Graph outline">
            <a:extLst>
              <a:ext uri="{FF2B5EF4-FFF2-40B4-BE49-F238E27FC236}">
                <a16:creationId xmlns:a16="http://schemas.microsoft.com/office/drawing/2014/main" id="{7918E4E3-AC1D-22A5-D83B-C11C6B6193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4027" y="1507476"/>
            <a:ext cx="914400" cy="914400"/>
          </a:xfrm>
          <a:prstGeom prst="rect">
            <a:avLst/>
          </a:prstGeom>
        </p:spPr>
      </p:pic>
      <p:pic>
        <p:nvPicPr>
          <p:cNvPr id="10" name="Graphic 9" descr="Stop outline">
            <a:extLst>
              <a:ext uri="{FF2B5EF4-FFF2-40B4-BE49-F238E27FC236}">
                <a16:creationId xmlns:a16="http://schemas.microsoft.com/office/drawing/2014/main" id="{8A131345-280D-BE97-64BD-25413807E0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36333" y="1507476"/>
            <a:ext cx="914400" cy="914400"/>
          </a:xfrm>
          <a:prstGeom prst="rect">
            <a:avLst/>
          </a:prstGeom>
        </p:spPr>
      </p:pic>
      <p:graphicFrame>
        <p:nvGraphicFramePr>
          <p:cNvPr id="11" name="Table 10">
            <a:extLst>
              <a:ext uri="{FF2B5EF4-FFF2-40B4-BE49-F238E27FC236}">
                <a16:creationId xmlns:a16="http://schemas.microsoft.com/office/drawing/2014/main" id="{8ECDAE26-3A6A-FBF3-A6B5-A74E6BA10C67}"/>
              </a:ext>
            </a:extLst>
          </p:cNvPr>
          <p:cNvGraphicFramePr>
            <a:graphicFrameLocks noGrp="1"/>
          </p:cNvGraphicFramePr>
          <p:nvPr>
            <p:extLst>
              <p:ext uri="{D42A27DB-BD31-4B8C-83A1-F6EECF244321}">
                <p14:modId xmlns:p14="http://schemas.microsoft.com/office/powerpoint/2010/main" val="3236697262"/>
              </p:ext>
            </p:extLst>
          </p:nvPr>
        </p:nvGraphicFramePr>
        <p:xfrm>
          <a:off x="306916" y="3659777"/>
          <a:ext cx="5058834" cy="1574800"/>
        </p:xfrm>
        <a:graphic>
          <a:graphicData uri="http://schemas.openxmlformats.org/drawingml/2006/table">
            <a:tbl>
              <a:tblPr firstRow="1" firstCol="1" bandRow="1">
                <a:tableStyleId>{5C22544A-7EE6-4342-B048-85BDC9FD1C3A}</a:tableStyleId>
              </a:tblPr>
              <a:tblGrid>
                <a:gridCol w="3780813">
                  <a:extLst>
                    <a:ext uri="{9D8B030D-6E8A-4147-A177-3AD203B41FA5}">
                      <a16:colId xmlns:a16="http://schemas.microsoft.com/office/drawing/2014/main" val="1281591193"/>
                    </a:ext>
                  </a:extLst>
                </a:gridCol>
                <a:gridCol w="1278021">
                  <a:extLst>
                    <a:ext uri="{9D8B030D-6E8A-4147-A177-3AD203B41FA5}">
                      <a16:colId xmlns:a16="http://schemas.microsoft.com/office/drawing/2014/main" val="245310593"/>
                    </a:ext>
                  </a:extLst>
                </a:gridCol>
              </a:tblGrid>
              <a:tr h="198120">
                <a:tc>
                  <a:txBody>
                    <a:bodyPr/>
                    <a:lstStyle/>
                    <a:p>
                      <a:pPr marL="0" marR="0" algn="ctr">
                        <a:lnSpc>
                          <a:spcPct val="107000"/>
                        </a:lnSpc>
                        <a:spcBef>
                          <a:spcPts val="0"/>
                        </a:spcBef>
                        <a:spcAft>
                          <a:spcPts val="0"/>
                        </a:spcAft>
                      </a:pPr>
                      <a:r>
                        <a:rPr lang="en-IN" sz="2000" b="1" kern="0" dirty="0">
                          <a:solidFill>
                            <a:srgbClr val="156082"/>
                          </a:solidFill>
                          <a:effectLst/>
                        </a:rPr>
                        <a:t>Accuracy</a:t>
                      </a:r>
                      <a:endParaRPr lang="en-IN" sz="20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2000" b="1" kern="0">
                          <a:solidFill>
                            <a:srgbClr val="156082"/>
                          </a:solidFill>
                          <a:effectLst/>
                        </a:rPr>
                        <a:t>34.53%</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967722198"/>
                  </a:ext>
                </a:extLst>
              </a:tr>
              <a:tr h="198120">
                <a:tc>
                  <a:txBody>
                    <a:bodyPr/>
                    <a:lstStyle/>
                    <a:p>
                      <a:pPr marL="0" marR="0" algn="ctr">
                        <a:lnSpc>
                          <a:spcPct val="107000"/>
                        </a:lnSpc>
                        <a:spcBef>
                          <a:spcPts val="0"/>
                        </a:spcBef>
                        <a:spcAft>
                          <a:spcPts val="0"/>
                        </a:spcAft>
                      </a:pPr>
                      <a:r>
                        <a:rPr lang="en-IN" sz="2000" b="1" kern="0" dirty="0">
                          <a:solidFill>
                            <a:srgbClr val="156082"/>
                          </a:solidFill>
                          <a:effectLst/>
                        </a:rPr>
                        <a:t>Recall</a:t>
                      </a:r>
                      <a:endParaRPr lang="en-IN" sz="20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2000" b="1" kern="0">
                          <a:solidFill>
                            <a:srgbClr val="156082"/>
                          </a:solidFill>
                          <a:effectLst/>
                        </a:rPr>
                        <a:t>96.90%</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974306259"/>
                  </a:ext>
                </a:extLst>
              </a:tr>
              <a:tr h="198120">
                <a:tc>
                  <a:txBody>
                    <a:bodyPr/>
                    <a:lstStyle/>
                    <a:p>
                      <a:pPr marL="0" marR="0" algn="ctr">
                        <a:lnSpc>
                          <a:spcPct val="107000"/>
                        </a:lnSpc>
                        <a:spcBef>
                          <a:spcPts val="0"/>
                        </a:spcBef>
                        <a:spcAft>
                          <a:spcPts val="0"/>
                        </a:spcAft>
                      </a:pPr>
                      <a:r>
                        <a:rPr lang="en-IN" sz="2000" b="1" kern="0">
                          <a:solidFill>
                            <a:srgbClr val="156082"/>
                          </a:solidFill>
                          <a:effectLst/>
                        </a:rPr>
                        <a:t>Precision</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2000" b="1" kern="0">
                          <a:solidFill>
                            <a:srgbClr val="156082"/>
                          </a:solidFill>
                          <a:effectLst/>
                        </a:rPr>
                        <a:t>26.80%</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849589244"/>
                  </a:ext>
                </a:extLst>
              </a:tr>
              <a:tr h="198120">
                <a:tc>
                  <a:txBody>
                    <a:bodyPr/>
                    <a:lstStyle/>
                    <a:p>
                      <a:pPr marL="0" marR="0" algn="ctr">
                        <a:lnSpc>
                          <a:spcPct val="107000"/>
                        </a:lnSpc>
                        <a:spcBef>
                          <a:spcPts val="0"/>
                        </a:spcBef>
                        <a:spcAft>
                          <a:spcPts val="0"/>
                        </a:spcAft>
                      </a:pPr>
                      <a:r>
                        <a:rPr lang="en-IN" sz="2000" b="1" kern="0" dirty="0">
                          <a:solidFill>
                            <a:srgbClr val="156082"/>
                          </a:solidFill>
                          <a:effectLst/>
                        </a:rPr>
                        <a:t>Specificity</a:t>
                      </a:r>
                      <a:endParaRPr lang="en-IN" sz="20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2000" b="1" kern="0">
                          <a:solidFill>
                            <a:srgbClr val="156082"/>
                          </a:solidFill>
                          <a:effectLst/>
                        </a:rPr>
                        <a:t>26.80%</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831778801"/>
                  </a:ext>
                </a:extLst>
              </a:tr>
              <a:tr h="198120">
                <a:tc>
                  <a:txBody>
                    <a:bodyPr/>
                    <a:lstStyle/>
                    <a:p>
                      <a:pPr marL="0" marR="0" algn="ctr">
                        <a:lnSpc>
                          <a:spcPct val="107000"/>
                        </a:lnSpc>
                        <a:spcBef>
                          <a:spcPts val="0"/>
                        </a:spcBef>
                        <a:spcAft>
                          <a:spcPts val="0"/>
                        </a:spcAft>
                      </a:pPr>
                      <a:r>
                        <a:rPr lang="en-IN" sz="2000" b="1" kern="0">
                          <a:solidFill>
                            <a:srgbClr val="156082"/>
                          </a:solidFill>
                          <a:effectLst/>
                        </a:rPr>
                        <a:t>F1 Score</a:t>
                      </a:r>
                      <a:endParaRPr lang="en-IN" sz="2000" b="1" kern="10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2000" b="1" kern="0" dirty="0">
                          <a:solidFill>
                            <a:srgbClr val="156082"/>
                          </a:solidFill>
                          <a:effectLst/>
                        </a:rPr>
                        <a:t>41.96%</a:t>
                      </a:r>
                      <a:endParaRPr lang="en-IN" sz="2000" b="1" kern="100" dirty="0">
                        <a:solidFill>
                          <a:srgbClr val="156082"/>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682276103"/>
                  </a:ext>
                </a:extLst>
              </a:tr>
            </a:tbl>
          </a:graphicData>
        </a:graphic>
      </p:graphicFrame>
      <p:pic>
        <p:nvPicPr>
          <p:cNvPr id="12" name="Picture 11" descr="A graph of a line&#10;&#10;Description automatically generated">
            <a:extLst>
              <a:ext uri="{FF2B5EF4-FFF2-40B4-BE49-F238E27FC236}">
                <a16:creationId xmlns:a16="http://schemas.microsoft.com/office/drawing/2014/main" id="{8A4EAD19-65B3-297C-FA8A-14071FB825B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22427" y="2833039"/>
            <a:ext cx="3637598" cy="3977810"/>
          </a:xfrm>
          <a:prstGeom prst="rect">
            <a:avLst/>
          </a:prstGeom>
        </p:spPr>
      </p:pic>
      <p:pic>
        <p:nvPicPr>
          <p:cNvPr id="23" name="Audio 22">
            <a:extLst>
              <a:ext uri="{FF2B5EF4-FFF2-40B4-BE49-F238E27FC236}">
                <a16:creationId xmlns:a16="http://schemas.microsoft.com/office/drawing/2014/main" id="{6B22FD24-584C-D50F-DCD8-6AF17376F1DE}"/>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89071785"/>
      </p:ext>
    </p:extLst>
  </p:cSld>
  <p:clrMapOvr>
    <a:masterClrMapping/>
  </p:clrMapOvr>
  <mc:AlternateContent xmlns:mc="http://schemas.openxmlformats.org/markup-compatibility/2006">
    <mc:Choice xmlns:p14="http://schemas.microsoft.com/office/powerpoint/2010/main" Requires="p14">
      <p:transition spd="slow" p14:dur="2000" advTm="37776"/>
    </mc:Choice>
    <mc:Fallback>
      <p:transition spd="slow" advTm="377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3D5C-19CD-A926-4A6C-B1DD4F85E33B}"/>
              </a:ext>
            </a:extLst>
          </p:cNvPr>
          <p:cNvSpPr>
            <a:spLocks noGrp="1"/>
          </p:cNvSpPr>
          <p:nvPr>
            <p:ph type="title"/>
          </p:nvPr>
        </p:nvSpPr>
        <p:spPr/>
        <p:txBody>
          <a:bodyPr>
            <a:normAutofit/>
          </a:bodyPr>
          <a:lstStyle/>
          <a:p>
            <a:r>
              <a:rPr lang="en-US" sz="6600" dirty="0">
                <a:solidFill>
                  <a:srgbClr val="156082"/>
                </a:solidFill>
                <a:latin typeface="Aptos Narrow" panose="020B0004020202020204" pitchFamily="34" charset="0"/>
              </a:rPr>
              <a:t>F I N D I N G S</a:t>
            </a:r>
            <a:endParaRPr lang="en-IN" sz="6600" dirty="0">
              <a:solidFill>
                <a:srgbClr val="156082"/>
              </a:solidFill>
              <a:latin typeface="Aptos Narrow" panose="020B0004020202020204" pitchFamily="34" charset="0"/>
            </a:endParaRPr>
          </a:p>
        </p:txBody>
      </p:sp>
      <p:sp>
        <p:nvSpPr>
          <p:cNvPr id="4" name="Rectangle: Rounded Corners 3">
            <a:extLst>
              <a:ext uri="{FF2B5EF4-FFF2-40B4-BE49-F238E27FC236}">
                <a16:creationId xmlns:a16="http://schemas.microsoft.com/office/drawing/2014/main" id="{BDDE8684-5518-179C-C8EC-BB768B3B655F}"/>
              </a:ext>
            </a:extLst>
          </p:cNvPr>
          <p:cNvSpPr/>
          <p:nvPr/>
        </p:nvSpPr>
        <p:spPr>
          <a:xfrm>
            <a:off x="5765800" y="516466"/>
            <a:ext cx="5588000" cy="86948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61CD4C71-2F96-E8C0-4A04-88D57D05FC0A}"/>
              </a:ext>
            </a:extLst>
          </p:cNvPr>
          <p:cNvGraphicFramePr>
            <a:graphicFrameLocks noGrp="1"/>
          </p:cNvGraphicFramePr>
          <p:nvPr>
            <p:extLst>
              <p:ext uri="{D42A27DB-BD31-4B8C-83A1-F6EECF244321}">
                <p14:modId xmlns:p14="http://schemas.microsoft.com/office/powerpoint/2010/main" val="3430379205"/>
              </p:ext>
            </p:extLst>
          </p:nvPr>
        </p:nvGraphicFramePr>
        <p:xfrm>
          <a:off x="932353" y="3055179"/>
          <a:ext cx="3836232" cy="1417320"/>
        </p:xfrm>
        <a:graphic>
          <a:graphicData uri="http://schemas.openxmlformats.org/drawingml/2006/table">
            <a:tbl>
              <a:tblPr firstRow="1" firstCol="1" bandRow="1">
                <a:tableStyleId>{5C22544A-7EE6-4342-B048-85BDC9FD1C3A}</a:tableStyleId>
              </a:tblPr>
              <a:tblGrid>
                <a:gridCol w="2867079">
                  <a:extLst>
                    <a:ext uri="{9D8B030D-6E8A-4147-A177-3AD203B41FA5}">
                      <a16:colId xmlns:a16="http://schemas.microsoft.com/office/drawing/2014/main" val="2458786807"/>
                    </a:ext>
                  </a:extLst>
                </a:gridCol>
                <a:gridCol w="969153">
                  <a:extLst>
                    <a:ext uri="{9D8B030D-6E8A-4147-A177-3AD203B41FA5}">
                      <a16:colId xmlns:a16="http://schemas.microsoft.com/office/drawing/2014/main" val="1962877841"/>
                    </a:ext>
                  </a:extLst>
                </a:gridCol>
              </a:tblGrid>
              <a:tr h="198120">
                <a:tc>
                  <a:txBody>
                    <a:bodyPr/>
                    <a:lstStyle/>
                    <a:p>
                      <a:pPr marL="0" marR="0" algn="ctr">
                        <a:lnSpc>
                          <a:spcPct val="107000"/>
                        </a:lnSpc>
                        <a:spcBef>
                          <a:spcPts val="0"/>
                        </a:spcBef>
                        <a:spcAft>
                          <a:spcPts val="0"/>
                        </a:spcAft>
                      </a:pPr>
                      <a:r>
                        <a:rPr lang="en-IN" sz="1800" b="0" kern="0">
                          <a:solidFill>
                            <a:schemeClr val="tx1"/>
                          </a:solidFill>
                          <a:effectLst/>
                        </a:rPr>
                        <a:t>True Negatives (TN)</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4145</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17732362"/>
                  </a:ext>
                </a:extLst>
              </a:tr>
              <a:tr h="198120">
                <a:tc>
                  <a:txBody>
                    <a:bodyPr/>
                    <a:lstStyle/>
                    <a:p>
                      <a:pPr marL="0" marR="0" algn="ctr">
                        <a:lnSpc>
                          <a:spcPct val="107000"/>
                        </a:lnSpc>
                        <a:spcBef>
                          <a:spcPts val="0"/>
                        </a:spcBef>
                        <a:spcAft>
                          <a:spcPts val="0"/>
                        </a:spcAft>
                      </a:pPr>
                      <a:r>
                        <a:rPr lang="en-IN" sz="1800" b="0" kern="0" dirty="0">
                          <a:solidFill>
                            <a:schemeClr val="tx1"/>
                          </a:solidFill>
                          <a:effectLst/>
                        </a:rPr>
                        <a:t>False Positives (FP)</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365</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137003899"/>
                  </a:ext>
                </a:extLst>
              </a:tr>
              <a:tr h="198120">
                <a:tc>
                  <a:txBody>
                    <a:bodyPr/>
                    <a:lstStyle/>
                    <a:p>
                      <a:pPr marL="0" marR="0" algn="ctr">
                        <a:lnSpc>
                          <a:spcPct val="107000"/>
                        </a:lnSpc>
                        <a:spcBef>
                          <a:spcPts val="0"/>
                        </a:spcBef>
                        <a:spcAft>
                          <a:spcPts val="0"/>
                        </a:spcAft>
                      </a:pPr>
                      <a:r>
                        <a:rPr lang="en-IN" sz="1800" b="0" kern="0" dirty="0">
                          <a:solidFill>
                            <a:schemeClr val="tx1"/>
                          </a:solidFill>
                          <a:effectLst/>
                        </a:rPr>
                        <a:t>False Negatives (FN)</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891</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616847885"/>
                  </a:ext>
                </a:extLst>
              </a:tr>
              <a:tr h="198120">
                <a:tc>
                  <a:txBody>
                    <a:bodyPr/>
                    <a:lstStyle/>
                    <a:p>
                      <a:pPr marL="0" marR="0" algn="ctr">
                        <a:lnSpc>
                          <a:spcPct val="107000"/>
                        </a:lnSpc>
                        <a:spcBef>
                          <a:spcPts val="0"/>
                        </a:spcBef>
                        <a:spcAft>
                          <a:spcPts val="0"/>
                        </a:spcAft>
                      </a:pPr>
                      <a:r>
                        <a:rPr lang="en-IN" sz="1800" b="0" kern="0">
                          <a:solidFill>
                            <a:schemeClr val="tx1"/>
                          </a:solidFill>
                          <a:effectLst/>
                        </a:rPr>
                        <a:t>True Positives (TP)</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631</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003473187"/>
                  </a:ext>
                </a:extLst>
              </a:tr>
              <a:tr h="198120">
                <a:tc>
                  <a:txBody>
                    <a:bodyPr/>
                    <a:lstStyle/>
                    <a:p>
                      <a:pPr marL="0" marR="0" algn="ctr">
                        <a:lnSpc>
                          <a:spcPct val="107000"/>
                        </a:lnSpc>
                        <a:spcBef>
                          <a:spcPts val="0"/>
                        </a:spcBef>
                        <a:spcAft>
                          <a:spcPts val="0"/>
                        </a:spcAft>
                      </a:pPr>
                      <a:r>
                        <a:rPr lang="en-IN" sz="1800" b="0" kern="0">
                          <a:solidFill>
                            <a:schemeClr val="tx1"/>
                          </a:solidFill>
                          <a:effectLst/>
                        </a:rPr>
                        <a:t>Total Observations</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6032</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92845103"/>
                  </a:ext>
                </a:extLst>
              </a:tr>
            </a:tbl>
          </a:graphicData>
        </a:graphic>
      </p:graphicFrame>
      <p:graphicFrame>
        <p:nvGraphicFramePr>
          <p:cNvPr id="6" name="Table 5">
            <a:extLst>
              <a:ext uri="{FF2B5EF4-FFF2-40B4-BE49-F238E27FC236}">
                <a16:creationId xmlns:a16="http://schemas.microsoft.com/office/drawing/2014/main" id="{1F6E1280-DFD1-DE91-C9E6-1DEE96C08B40}"/>
              </a:ext>
            </a:extLst>
          </p:cNvPr>
          <p:cNvGraphicFramePr>
            <a:graphicFrameLocks noGrp="1"/>
          </p:cNvGraphicFramePr>
          <p:nvPr>
            <p:extLst>
              <p:ext uri="{D42A27DB-BD31-4B8C-83A1-F6EECF244321}">
                <p14:modId xmlns:p14="http://schemas.microsoft.com/office/powerpoint/2010/main" val="501470175"/>
              </p:ext>
            </p:extLst>
          </p:nvPr>
        </p:nvGraphicFramePr>
        <p:xfrm>
          <a:off x="515678" y="4840132"/>
          <a:ext cx="4191832" cy="1417320"/>
        </p:xfrm>
        <a:graphic>
          <a:graphicData uri="http://schemas.openxmlformats.org/drawingml/2006/table">
            <a:tbl>
              <a:tblPr firstRow="1" firstCol="1" bandRow="1">
                <a:tableStyleId>{5C22544A-7EE6-4342-B048-85BDC9FD1C3A}</a:tableStyleId>
              </a:tblPr>
              <a:tblGrid>
                <a:gridCol w="3132843">
                  <a:extLst>
                    <a:ext uri="{9D8B030D-6E8A-4147-A177-3AD203B41FA5}">
                      <a16:colId xmlns:a16="http://schemas.microsoft.com/office/drawing/2014/main" val="3623404942"/>
                    </a:ext>
                  </a:extLst>
                </a:gridCol>
                <a:gridCol w="1058989">
                  <a:extLst>
                    <a:ext uri="{9D8B030D-6E8A-4147-A177-3AD203B41FA5}">
                      <a16:colId xmlns:a16="http://schemas.microsoft.com/office/drawing/2014/main" val="3344613836"/>
                    </a:ext>
                  </a:extLst>
                </a:gridCol>
              </a:tblGrid>
              <a:tr h="198120">
                <a:tc>
                  <a:txBody>
                    <a:bodyPr/>
                    <a:lstStyle/>
                    <a:p>
                      <a:pPr marL="0" marR="0" algn="ctr">
                        <a:lnSpc>
                          <a:spcPct val="107000"/>
                        </a:lnSpc>
                        <a:spcBef>
                          <a:spcPts val="0"/>
                        </a:spcBef>
                        <a:spcAft>
                          <a:spcPts val="0"/>
                        </a:spcAft>
                      </a:pPr>
                      <a:r>
                        <a:rPr lang="en-IN" sz="1800" b="0" kern="0">
                          <a:solidFill>
                            <a:schemeClr val="tx1"/>
                          </a:solidFill>
                          <a:effectLst/>
                        </a:rPr>
                        <a:t>Accuracy</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79.17%</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95357986"/>
                  </a:ext>
                </a:extLst>
              </a:tr>
              <a:tr h="198120">
                <a:tc>
                  <a:txBody>
                    <a:bodyPr/>
                    <a:lstStyle/>
                    <a:p>
                      <a:pPr marL="0" marR="0" algn="ctr">
                        <a:lnSpc>
                          <a:spcPct val="107000"/>
                        </a:lnSpc>
                        <a:spcBef>
                          <a:spcPts val="0"/>
                        </a:spcBef>
                        <a:spcAft>
                          <a:spcPts val="0"/>
                        </a:spcAft>
                      </a:pPr>
                      <a:r>
                        <a:rPr lang="en-IN" sz="1800" b="0" kern="0">
                          <a:solidFill>
                            <a:schemeClr val="tx1"/>
                          </a:solidFill>
                          <a:effectLst/>
                        </a:rPr>
                        <a:t>Recall</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41.50%</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4194324584"/>
                  </a:ext>
                </a:extLst>
              </a:tr>
              <a:tr h="198120">
                <a:tc>
                  <a:txBody>
                    <a:bodyPr/>
                    <a:lstStyle/>
                    <a:p>
                      <a:pPr marL="0" marR="0" algn="ctr">
                        <a:lnSpc>
                          <a:spcPct val="107000"/>
                        </a:lnSpc>
                        <a:spcBef>
                          <a:spcPts val="0"/>
                        </a:spcBef>
                        <a:spcAft>
                          <a:spcPts val="0"/>
                        </a:spcAft>
                      </a:pPr>
                      <a:r>
                        <a:rPr lang="en-IN" sz="1800" b="0" kern="0">
                          <a:solidFill>
                            <a:schemeClr val="tx1"/>
                          </a:solidFill>
                          <a:effectLst/>
                        </a:rPr>
                        <a:t>Precision</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63.40%</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763139420"/>
                  </a:ext>
                </a:extLst>
              </a:tr>
              <a:tr h="198120">
                <a:tc>
                  <a:txBody>
                    <a:bodyPr/>
                    <a:lstStyle/>
                    <a:p>
                      <a:pPr marL="0" marR="0" algn="ctr">
                        <a:lnSpc>
                          <a:spcPct val="107000"/>
                        </a:lnSpc>
                        <a:spcBef>
                          <a:spcPts val="0"/>
                        </a:spcBef>
                        <a:spcAft>
                          <a:spcPts val="0"/>
                        </a:spcAft>
                      </a:pPr>
                      <a:r>
                        <a:rPr lang="en-IN" sz="1800" b="0" kern="0" dirty="0">
                          <a:solidFill>
                            <a:schemeClr val="tx1"/>
                          </a:solidFill>
                          <a:effectLst/>
                        </a:rPr>
                        <a:t>Specificity</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91.59%</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907398291"/>
                  </a:ext>
                </a:extLst>
              </a:tr>
              <a:tr h="198120">
                <a:tc>
                  <a:txBody>
                    <a:bodyPr/>
                    <a:lstStyle/>
                    <a:p>
                      <a:pPr marL="0" marR="0" algn="ctr">
                        <a:lnSpc>
                          <a:spcPct val="107000"/>
                        </a:lnSpc>
                        <a:spcBef>
                          <a:spcPts val="0"/>
                        </a:spcBef>
                        <a:spcAft>
                          <a:spcPts val="0"/>
                        </a:spcAft>
                      </a:pPr>
                      <a:r>
                        <a:rPr lang="en-IN" sz="1800" b="0" kern="0" dirty="0">
                          <a:solidFill>
                            <a:schemeClr val="tx1"/>
                          </a:solidFill>
                          <a:effectLst/>
                        </a:rPr>
                        <a:t>F1 Score</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50.10%</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465688734"/>
                  </a:ext>
                </a:extLst>
              </a:tr>
            </a:tbl>
          </a:graphicData>
        </a:graphic>
      </p:graphicFrame>
      <p:graphicFrame>
        <p:nvGraphicFramePr>
          <p:cNvPr id="7" name="Table 6">
            <a:extLst>
              <a:ext uri="{FF2B5EF4-FFF2-40B4-BE49-F238E27FC236}">
                <a16:creationId xmlns:a16="http://schemas.microsoft.com/office/drawing/2014/main" id="{1512207A-5E55-10CB-928E-E34F5BECFAA4}"/>
              </a:ext>
            </a:extLst>
          </p:cNvPr>
          <p:cNvGraphicFramePr>
            <a:graphicFrameLocks noGrp="1"/>
          </p:cNvGraphicFramePr>
          <p:nvPr>
            <p:extLst>
              <p:ext uri="{D42A27DB-BD31-4B8C-83A1-F6EECF244321}">
                <p14:modId xmlns:p14="http://schemas.microsoft.com/office/powerpoint/2010/main" val="618439764"/>
              </p:ext>
            </p:extLst>
          </p:nvPr>
        </p:nvGraphicFramePr>
        <p:xfrm>
          <a:off x="6330196" y="3055179"/>
          <a:ext cx="3836232" cy="1417320"/>
        </p:xfrm>
        <a:graphic>
          <a:graphicData uri="http://schemas.openxmlformats.org/drawingml/2006/table">
            <a:tbl>
              <a:tblPr firstRow="1" firstCol="1" bandRow="1">
                <a:tableStyleId>{5C22544A-7EE6-4342-B048-85BDC9FD1C3A}</a:tableStyleId>
              </a:tblPr>
              <a:tblGrid>
                <a:gridCol w="2867079">
                  <a:extLst>
                    <a:ext uri="{9D8B030D-6E8A-4147-A177-3AD203B41FA5}">
                      <a16:colId xmlns:a16="http://schemas.microsoft.com/office/drawing/2014/main" val="3542311791"/>
                    </a:ext>
                  </a:extLst>
                </a:gridCol>
                <a:gridCol w="969153">
                  <a:extLst>
                    <a:ext uri="{9D8B030D-6E8A-4147-A177-3AD203B41FA5}">
                      <a16:colId xmlns:a16="http://schemas.microsoft.com/office/drawing/2014/main" val="2509983808"/>
                    </a:ext>
                  </a:extLst>
                </a:gridCol>
              </a:tblGrid>
              <a:tr h="198120">
                <a:tc>
                  <a:txBody>
                    <a:bodyPr/>
                    <a:lstStyle/>
                    <a:p>
                      <a:pPr marL="0" marR="0" algn="ctr">
                        <a:lnSpc>
                          <a:spcPct val="107000"/>
                        </a:lnSpc>
                        <a:spcBef>
                          <a:spcPts val="0"/>
                        </a:spcBef>
                        <a:spcAft>
                          <a:spcPts val="0"/>
                        </a:spcAft>
                      </a:pPr>
                      <a:r>
                        <a:rPr lang="en-IN" sz="1800" b="0" kern="0">
                          <a:solidFill>
                            <a:schemeClr val="tx1"/>
                          </a:solidFill>
                          <a:effectLst/>
                        </a:rPr>
                        <a:t>True Negatives (TN)</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654</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236511297"/>
                  </a:ext>
                </a:extLst>
              </a:tr>
              <a:tr h="198120">
                <a:tc>
                  <a:txBody>
                    <a:bodyPr/>
                    <a:lstStyle/>
                    <a:p>
                      <a:pPr marL="0" marR="0" algn="ctr">
                        <a:lnSpc>
                          <a:spcPct val="107000"/>
                        </a:lnSpc>
                        <a:spcBef>
                          <a:spcPts val="0"/>
                        </a:spcBef>
                        <a:spcAft>
                          <a:spcPts val="0"/>
                        </a:spcAft>
                      </a:pPr>
                      <a:r>
                        <a:rPr lang="en-IN" sz="1800" b="0" kern="0">
                          <a:solidFill>
                            <a:schemeClr val="tx1"/>
                          </a:solidFill>
                          <a:effectLst/>
                        </a:rPr>
                        <a:t>False Positives (FP)</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3903</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421070350"/>
                  </a:ext>
                </a:extLst>
              </a:tr>
              <a:tr h="198120">
                <a:tc>
                  <a:txBody>
                    <a:bodyPr/>
                    <a:lstStyle/>
                    <a:p>
                      <a:pPr marL="0" marR="0" algn="ctr">
                        <a:lnSpc>
                          <a:spcPct val="107000"/>
                        </a:lnSpc>
                        <a:spcBef>
                          <a:spcPts val="0"/>
                        </a:spcBef>
                        <a:spcAft>
                          <a:spcPts val="0"/>
                        </a:spcAft>
                      </a:pPr>
                      <a:r>
                        <a:rPr lang="en-IN" sz="1800" b="0" kern="0" dirty="0">
                          <a:solidFill>
                            <a:schemeClr val="tx1"/>
                          </a:solidFill>
                          <a:effectLst/>
                        </a:rPr>
                        <a:t>False Negatives (FN)</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45</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20654718"/>
                  </a:ext>
                </a:extLst>
              </a:tr>
              <a:tr h="198120">
                <a:tc>
                  <a:txBody>
                    <a:bodyPr/>
                    <a:lstStyle/>
                    <a:p>
                      <a:pPr marL="0" marR="0" algn="ctr">
                        <a:lnSpc>
                          <a:spcPct val="107000"/>
                        </a:lnSpc>
                        <a:spcBef>
                          <a:spcPts val="0"/>
                        </a:spcBef>
                        <a:spcAft>
                          <a:spcPts val="0"/>
                        </a:spcAft>
                      </a:pPr>
                      <a:r>
                        <a:rPr lang="en-IN" sz="1800" b="0" kern="0">
                          <a:solidFill>
                            <a:schemeClr val="tx1"/>
                          </a:solidFill>
                          <a:effectLst/>
                        </a:rPr>
                        <a:t>True Positives (TP)</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1430</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3357444360"/>
                  </a:ext>
                </a:extLst>
              </a:tr>
              <a:tr h="198120">
                <a:tc>
                  <a:txBody>
                    <a:bodyPr/>
                    <a:lstStyle/>
                    <a:p>
                      <a:pPr marL="0" marR="0" algn="ctr">
                        <a:lnSpc>
                          <a:spcPct val="107000"/>
                        </a:lnSpc>
                        <a:spcBef>
                          <a:spcPts val="0"/>
                        </a:spcBef>
                        <a:spcAft>
                          <a:spcPts val="0"/>
                        </a:spcAft>
                      </a:pPr>
                      <a:r>
                        <a:rPr lang="en-IN" sz="1800" b="0" kern="0">
                          <a:solidFill>
                            <a:schemeClr val="tx1"/>
                          </a:solidFill>
                          <a:effectLst/>
                        </a:rPr>
                        <a:t>Total Observations</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6032</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b">
                    <a:noFill/>
                  </a:tcPr>
                </a:tc>
                <a:extLst>
                  <a:ext uri="{0D108BD9-81ED-4DB2-BD59-A6C34878D82A}">
                    <a16:rowId xmlns:a16="http://schemas.microsoft.com/office/drawing/2014/main" val="1729845750"/>
                  </a:ext>
                </a:extLst>
              </a:tr>
            </a:tbl>
          </a:graphicData>
        </a:graphic>
      </p:graphicFrame>
      <p:graphicFrame>
        <p:nvGraphicFramePr>
          <p:cNvPr id="8" name="Table 7">
            <a:extLst>
              <a:ext uri="{FF2B5EF4-FFF2-40B4-BE49-F238E27FC236}">
                <a16:creationId xmlns:a16="http://schemas.microsoft.com/office/drawing/2014/main" id="{28737518-A8D7-164D-7808-BC278CFF4EE6}"/>
              </a:ext>
            </a:extLst>
          </p:cNvPr>
          <p:cNvGraphicFramePr>
            <a:graphicFrameLocks noGrp="1"/>
          </p:cNvGraphicFramePr>
          <p:nvPr>
            <p:extLst>
              <p:ext uri="{D42A27DB-BD31-4B8C-83A1-F6EECF244321}">
                <p14:modId xmlns:p14="http://schemas.microsoft.com/office/powerpoint/2010/main" val="116969182"/>
              </p:ext>
            </p:extLst>
          </p:nvPr>
        </p:nvGraphicFramePr>
        <p:xfrm>
          <a:off x="6454709" y="4843727"/>
          <a:ext cx="3587206" cy="1417320"/>
        </p:xfrm>
        <a:graphic>
          <a:graphicData uri="http://schemas.openxmlformats.org/drawingml/2006/table">
            <a:tbl>
              <a:tblPr firstRow="1" firstCol="1" bandRow="1">
                <a:tableStyleId>{5C22544A-7EE6-4342-B048-85BDC9FD1C3A}</a:tableStyleId>
              </a:tblPr>
              <a:tblGrid>
                <a:gridCol w="2209818">
                  <a:extLst>
                    <a:ext uri="{9D8B030D-6E8A-4147-A177-3AD203B41FA5}">
                      <a16:colId xmlns:a16="http://schemas.microsoft.com/office/drawing/2014/main" val="1433552571"/>
                    </a:ext>
                  </a:extLst>
                </a:gridCol>
                <a:gridCol w="1377388">
                  <a:extLst>
                    <a:ext uri="{9D8B030D-6E8A-4147-A177-3AD203B41FA5}">
                      <a16:colId xmlns:a16="http://schemas.microsoft.com/office/drawing/2014/main" val="1903668042"/>
                    </a:ext>
                  </a:extLst>
                </a:gridCol>
              </a:tblGrid>
              <a:tr h="197485">
                <a:tc>
                  <a:txBody>
                    <a:bodyPr/>
                    <a:lstStyle/>
                    <a:p>
                      <a:pPr marL="0" marR="0" algn="ctr">
                        <a:lnSpc>
                          <a:spcPct val="107000"/>
                        </a:lnSpc>
                        <a:spcBef>
                          <a:spcPts val="0"/>
                        </a:spcBef>
                        <a:spcAft>
                          <a:spcPts val="0"/>
                        </a:spcAft>
                      </a:pPr>
                      <a:r>
                        <a:rPr lang="en-IN" sz="1800" b="0" kern="0">
                          <a:solidFill>
                            <a:schemeClr val="tx1"/>
                          </a:solidFill>
                          <a:effectLst/>
                        </a:rPr>
                        <a:t>Accuracy</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34.53%</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3884167506"/>
                  </a:ext>
                </a:extLst>
              </a:tr>
              <a:tr h="197485">
                <a:tc>
                  <a:txBody>
                    <a:bodyPr/>
                    <a:lstStyle/>
                    <a:p>
                      <a:pPr marL="0" marR="0" algn="ctr">
                        <a:lnSpc>
                          <a:spcPct val="107000"/>
                        </a:lnSpc>
                        <a:spcBef>
                          <a:spcPts val="0"/>
                        </a:spcBef>
                        <a:spcAft>
                          <a:spcPts val="0"/>
                        </a:spcAft>
                      </a:pPr>
                      <a:r>
                        <a:rPr lang="en-IN" sz="1800" b="0" kern="0" dirty="0">
                          <a:solidFill>
                            <a:schemeClr val="tx1"/>
                          </a:solidFill>
                          <a:effectLst/>
                        </a:rPr>
                        <a:t>Recall</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96.90%</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2304273482"/>
                  </a:ext>
                </a:extLst>
              </a:tr>
              <a:tr h="197485">
                <a:tc>
                  <a:txBody>
                    <a:bodyPr/>
                    <a:lstStyle/>
                    <a:p>
                      <a:pPr marL="0" marR="0" algn="ctr">
                        <a:lnSpc>
                          <a:spcPct val="107000"/>
                        </a:lnSpc>
                        <a:spcBef>
                          <a:spcPts val="0"/>
                        </a:spcBef>
                        <a:spcAft>
                          <a:spcPts val="0"/>
                        </a:spcAft>
                      </a:pPr>
                      <a:r>
                        <a:rPr lang="en-IN" sz="1800" b="0" kern="0">
                          <a:solidFill>
                            <a:schemeClr val="tx1"/>
                          </a:solidFill>
                          <a:effectLst/>
                        </a:rPr>
                        <a:t>Precision</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26.80%</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48779641"/>
                  </a:ext>
                </a:extLst>
              </a:tr>
              <a:tr h="197485">
                <a:tc>
                  <a:txBody>
                    <a:bodyPr/>
                    <a:lstStyle/>
                    <a:p>
                      <a:pPr marL="0" marR="0" algn="ctr">
                        <a:lnSpc>
                          <a:spcPct val="107000"/>
                        </a:lnSpc>
                        <a:spcBef>
                          <a:spcPts val="0"/>
                        </a:spcBef>
                        <a:spcAft>
                          <a:spcPts val="0"/>
                        </a:spcAft>
                      </a:pPr>
                      <a:r>
                        <a:rPr lang="en-IN" sz="1800" b="0" kern="0" dirty="0">
                          <a:solidFill>
                            <a:schemeClr val="tx1"/>
                          </a:solidFill>
                          <a:effectLst/>
                        </a:rPr>
                        <a:t>Specificity</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a:solidFill>
                            <a:schemeClr val="tx1"/>
                          </a:solidFill>
                          <a:effectLst/>
                        </a:rPr>
                        <a:t>26.80%</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3631185520"/>
                  </a:ext>
                </a:extLst>
              </a:tr>
              <a:tr h="197485">
                <a:tc>
                  <a:txBody>
                    <a:bodyPr/>
                    <a:lstStyle/>
                    <a:p>
                      <a:pPr marL="0" marR="0" algn="ctr">
                        <a:lnSpc>
                          <a:spcPct val="107000"/>
                        </a:lnSpc>
                        <a:spcBef>
                          <a:spcPts val="0"/>
                        </a:spcBef>
                        <a:spcAft>
                          <a:spcPts val="0"/>
                        </a:spcAft>
                      </a:pPr>
                      <a:r>
                        <a:rPr lang="en-IN" sz="1800" b="0" kern="0">
                          <a:solidFill>
                            <a:schemeClr val="tx1"/>
                          </a:solidFill>
                          <a:effectLst/>
                        </a:rPr>
                        <a:t>F1 Score</a:t>
                      </a:r>
                      <a:endParaRPr lang="en-IN" sz="1800" b="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tc>
                  <a:txBody>
                    <a:bodyPr/>
                    <a:lstStyle/>
                    <a:p>
                      <a:pPr marL="0" marR="0" algn="ctr">
                        <a:lnSpc>
                          <a:spcPct val="107000"/>
                        </a:lnSpc>
                        <a:spcBef>
                          <a:spcPts val="0"/>
                        </a:spcBef>
                        <a:spcAft>
                          <a:spcPts val="0"/>
                        </a:spcAft>
                      </a:pPr>
                      <a:r>
                        <a:rPr lang="en-IN" sz="1800" b="0" kern="0" dirty="0">
                          <a:solidFill>
                            <a:schemeClr val="tx1"/>
                          </a:solidFill>
                          <a:effectLst/>
                        </a:rPr>
                        <a:t>41.96%</a:t>
                      </a:r>
                      <a:endParaRPr lang="en-IN" sz="1800" b="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1666846267"/>
                  </a:ext>
                </a:extLst>
              </a:tr>
            </a:tbl>
          </a:graphicData>
        </a:graphic>
      </p:graphicFrame>
      <p:sp>
        <p:nvSpPr>
          <p:cNvPr id="10" name="TextBox 9">
            <a:extLst>
              <a:ext uri="{FF2B5EF4-FFF2-40B4-BE49-F238E27FC236}">
                <a16:creationId xmlns:a16="http://schemas.microsoft.com/office/drawing/2014/main" id="{2C577C6C-A4FA-A8D3-DB42-14748C736EAA}"/>
              </a:ext>
            </a:extLst>
          </p:cNvPr>
          <p:cNvSpPr txBox="1"/>
          <p:nvPr/>
        </p:nvSpPr>
        <p:spPr>
          <a:xfrm>
            <a:off x="2472267" y="1869343"/>
            <a:ext cx="692818" cy="400110"/>
          </a:xfrm>
          <a:prstGeom prst="rect">
            <a:avLst/>
          </a:prstGeom>
          <a:noFill/>
        </p:spPr>
        <p:txBody>
          <a:bodyPr wrap="none" rtlCol="0">
            <a:spAutoFit/>
          </a:bodyPr>
          <a:lstStyle/>
          <a:p>
            <a:r>
              <a:rPr lang="en-US" sz="2000" dirty="0"/>
              <a:t>KNN</a:t>
            </a:r>
            <a:endParaRPr lang="en-IN" sz="2000" dirty="0"/>
          </a:p>
        </p:txBody>
      </p:sp>
      <p:sp>
        <p:nvSpPr>
          <p:cNvPr id="11" name="TextBox 10">
            <a:extLst>
              <a:ext uri="{FF2B5EF4-FFF2-40B4-BE49-F238E27FC236}">
                <a16:creationId xmlns:a16="http://schemas.microsoft.com/office/drawing/2014/main" id="{EC864745-6358-8F79-090E-39837759D5EC}"/>
              </a:ext>
            </a:extLst>
          </p:cNvPr>
          <p:cNvSpPr txBox="1"/>
          <p:nvPr/>
        </p:nvSpPr>
        <p:spPr>
          <a:xfrm>
            <a:off x="7425267" y="1864084"/>
            <a:ext cx="1646092" cy="400110"/>
          </a:xfrm>
          <a:prstGeom prst="rect">
            <a:avLst/>
          </a:prstGeom>
          <a:noFill/>
        </p:spPr>
        <p:txBody>
          <a:bodyPr wrap="none" rtlCol="0">
            <a:spAutoFit/>
          </a:bodyPr>
          <a:lstStyle/>
          <a:p>
            <a:r>
              <a:rPr lang="en-US" sz="2000" dirty="0"/>
              <a:t>NAÏVE BAYES</a:t>
            </a:r>
            <a:endParaRPr lang="en-IN" sz="2000" dirty="0"/>
          </a:p>
        </p:txBody>
      </p:sp>
      <p:pic>
        <p:nvPicPr>
          <p:cNvPr id="12" name="Graphic 11" descr="Circles with lines outline">
            <a:extLst>
              <a:ext uri="{FF2B5EF4-FFF2-40B4-BE49-F238E27FC236}">
                <a16:creationId xmlns:a16="http://schemas.microsoft.com/office/drawing/2014/main" id="{031D05F0-C367-CD2A-9034-792CA46BBE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35855" y="2235200"/>
            <a:ext cx="629229" cy="629229"/>
          </a:xfrm>
          <a:prstGeom prst="rect">
            <a:avLst/>
          </a:prstGeom>
        </p:spPr>
      </p:pic>
      <p:sp>
        <p:nvSpPr>
          <p:cNvPr id="13" name="Flowchart: Extract 12">
            <a:extLst>
              <a:ext uri="{FF2B5EF4-FFF2-40B4-BE49-F238E27FC236}">
                <a16:creationId xmlns:a16="http://schemas.microsoft.com/office/drawing/2014/main" id="{41A22023-97AB-D55D-7C7D-95F7FF1E1D78}"/>
              </a:ext>
            </a:extLst>
          </p:cNvPr>
          <p:cNvSpPr/>
          <p:nvPr/>
        </p:nvSpPr>
        <p:spPr>
          <a:xfrm>
            <a:off x="2535854" y="2235199"/>
            <a:ext cx="151481" cy="127627"/>
          </a:xfrm>
          <a:prstGeom prst="flowChartExtra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14" name="Flowchart: Extract 13">
            <a:extLst>
              <a:ext uri="{FF2B5EF4-FFF2-40B4-BE49-F238E27FC236}">
                <a16:creationId xmlns:a16="http://schemas.microsoft.com/office/drawing/2014/main" id="{55BA3219-46FA-CDB5-DD09-497AD343B6C1}"/>
              </a:ext>
            </a:extLst>
          </p:cNvPr>
          <p:cNvSpPr/>
          <p:nvPr/>
        </p:nvSpPr>
        <p:spPr>
          <a:xfrm>
            <a:off x="2315721" y="2429932"/>
            <a:ext cx="151481" cy="127627"/>
          </a:xfrm>
          <a:prstGeom prst="flowChartExtra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pic>
        <p:nvPicPr>
          <p:cNvPr id="15" name="Graphic 14" descr="Germ outline">
            <a:extLst>
              <a:ext uri="{FF2B5EF4-FFF2-40B4-BE49-F238E27FC236}">
                <a16:creationId xmlns:a16="http://schemas.microsoft.com/office/drawing/2014/main" id="{5EB32AFD-3060-2DA8-58C8-853A495AFA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3698" y="2238794"/>
            <a:ext cx="629229" cy="629229"/>
          </a:xfrm>
          <a:prstGeom prst="rect">
            <a:avLst/>
          </a:prstGeom>
        </p:spPr>
      </p:pic>
      <p:pic>
        <p:nvPicPr>
          <p:cNvPr id="34" name="Audio 33">
            <a:extLst>
              <a:ext uri="{FF2B5EF4-FFF2-40B4-BE49-F238E27FC236}">
                <a16:creationId xmlns:a16="http://schemas.microsoft.com/office/drawing/2014/main" id="{511514F8-F466-0957-1752-095BCEEA90A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0464736"/>
      </p:ext>
    </p:extLst>
  </p:cSld>
  <p:clrMapOvr>
    <a:masterClrMapping/>
  </p:clrMapOvr>
  <mc:AlternateContent xmlns:mc="http://schemas.openxmlformats.org/markup-compatibility/2006">
    <mc:Choice xmlns:p14="http://schemas.microsoft.com/office/powerpoint/2010/main" Requires="p14">
      <p:transition spd="slow" p14:dur="2000" advTm="62209"/>
    </mc:Choice>
    <mc:Fallback>
      <p:transition spd="slow" advTm="622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A65C235-32BF-2C3F-5D54-705FF4290F46}"/>
              </a:ext>
            </a:extLst>
          </p:cNvPr>
          <p:cNvSpPr/>
          <p:nvPr/>
        </p:nvSpPr>
        <p:spPr>
          <a:xfrm>
            <a:off x="762000" y="533400"/>
            <a:ext cx="4199467" cy="86948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F02357A-14E0-A548-7C8F-5ECD2C8DD5BE}"/>
              </a:ext>
            </a:extLst>
          </p:cNvPr>
          <p:cNvSpPr>
            <a:spLocks noGrp="1"/>
          </p:cNvSpPr>
          <p:nvPr>
            <p:ph type="title"/>
          </p:nvPr>
        </p:nvSpPr>
        <p:spPr/>
        <p:txBody>
          <a:bodyPr>
            <a:normAutofit/>
          </a:bodyPr>
          <a:lstStyle/>
          <a:p>
            <a:r>
              <a:rPr lang="en-US" sz="6600" dirty="0">
                <a:solidFill>
                  <a:srgbClr val="156082"/>
                </a:solidFill>
                <a:latin typeface="Aptos Narrow" panose="020B0004020202020204" pitchFamily="34" charset="0"/>
              </a:rPr>
              <a:t>E T H I C A L   C O N C E R N S</a:t>
            </a:r>
            <a:endParaRPr lang="en-IN" sz="6600" dirty="0">
              <a:solidFill>
                <a:srgbClr val="156082"/>
              </a:solidFill>
              <a:latin typeface="Aptos Narrow" panose="020B0004020202020204" pitchFamily="34" charset="0"/>
            </a:endParaRPr>
          </a:p>
        </p:txBody>
      </p:sp>
      <p:sp>
        <p:nvSpPr>
          <p:cNvPr id="5" name="TextBox 4">
            <a:extLst>
              <a:ext uri="{FF2B5EF4-FFF2-40B4-BE49-F238E27FC236}">
                <a16:creationId xmlns:a16="http://schemas.microsoft.com/office/drawing/2014/main" id="{2FC6ED24-01F4-C091-D6F0-2FE643B3A0D2}"/>
              </a:ext>
            </a:extLst>
          </p:cNvPr>
          <p:cNvSpPr txBox="1"/>
          <p:nvPr/>
        </p:nvSpPr>
        <p:spPr>
          <a:xfrm>
            <a:off x="739774" y="2721990"/>
            <a:ext cx="2130776" cy="400110"/>
          </a:xfrm>
          <a:prstGeom prst="rect">
            <a:avLst/>
          </a:prstGeom>
          <a:noFill/>
        </p:spPr>
        <p:txBody>
          <a:bodyPr wrap="none" rtlCol="0">
            <a:spAutoFit/>
          </a:bodyPr>
          <a:lstStyle/>
          <a:p>
            <a:r>
              <a:rPr lang="en-IN" sz="2000" dirty="0"/>
              <a:t>Fairness and Bias</a:t>
            </a:r>
          </a:p>
        </p:txBody>
      </p:sp>
      <p:sp>
        <p:nvSpPr>
          <p:cNvPr id="6" name="TextBox 5">
            <a:extLst>
              <a:ext uri="{FF2B5EF4-FFF2-40B4-BE49-F238E27FC236}">
                <a16:creationId xmlns:a16="http://schemas.microsoft.com/office/drawing/2014/main" id="{F928E714-028C-947D-53FD-7B1ABEE867AC}"/>
              </a:ext>
            </a:extLst>
          </p:cNvPr>
          <p:cNvSpPr txBox="1"/>
          <p:nvPr/>
        </p:nvSpPr>
        <p:spPr>
          <a:xfrm>
            <a:off x="5276640" y="2727537"/>
            <a:ext cx="1666546" cy="400110"/>
          </a:xfrm>
          <a:prstGeom prst="rect">
            <a:avLst/>
          </a:prstGeom>
          <a:noFill/>
        </p:spPr>
        <p:txBody>
          <a:bodyPr wrap="none" rtlCol="0">
            <a:spAutoFit/>
          </a:bodyPr>
          <a:lstStyle/>
          <a:p>
            <a:r>
              <a:rPr lang="en-IN" sz="2000" dirty="0"/>
              <a:t>Transparency</a:t>
            </a:r>
          </a:p>
        </p:txBody>
      </p:sp>
      <p:sp>
        <p:nvSpPr>
          <p:cNvPr id="8" name="TextBox 7">
            <a:extLst>
              <a:ext uri="{FF2B5EF4-FFF2-40B4-BE49-F238E27FC236}">
                <a16:creationId xmlns:a16="http://schemas.microsoft.com/office/drawing/2014/main" id="{42AFE594-50AD-1D7D-AD6A-086F71278A00}"/>
              </a:ext>
            </a:extLst>
          </p:cNvPr>
          <p:cNvSpPr txBox="1"/>
          <p:nvPr/>
        </p:nvSpPr>
        <p:spPr>
          <a:xfrm>
            <a:off x="5330469" y="4487841"/>
            <a:ext cx="1558888" cy="400110"/>
          </a:xfrm>
          <a:prstGeom prst="rect">
            <a:avLst/>
          </a:prstGeom>
          <a:noFill/>
        </p:spPr>
        <p:txBody>
          <a:bodyPr wrap="none" rtlCol="0">
            <a:spAutoFit/>
          </a:bodyPr>
          <a:lstStyle/>
          <a:p>
            <a:r>
              <a:rPr lang="en-IN" sz="2000" dirty="0"/>
              <a:t>Data Privacy</a:t>
            </a:r>
          </a:p>
        </p:txBody>
      </p:sp>
      <p:sp>
        <p:nvSpPr>
          <p:cNvPr id="9" name="TextBox 8">
            <a:extLst>
              <a:ext uri="{FF2B5EF4-FFF2-40B4-BE49-F238E27FC236}">
                <a16:creationId xmlns:a16="http://schemas.microsoft.com/office/drawing/2014/main" id="{025A6F54-9EA8-F4C3-5D4C-8F069C49DB32}"/>
              </a:ext>
            </a:extLst>
          </p:cNvPr>
          <p:cNvSpPr txBox="1"/>
          <p:nvPr/>
        </p:nvSpPr>
        <p:spPr>
          <a:xfrm>
            <a:off x="8889968" y="2745741"/>
            <a:ext cx="2188356" cy="400110"/>
          </a:xfrm>
          <a:prstGeom prst="rect">
            <a:avLst/>
          </a:prstGeom>
          <a:noFill/>
        </p:spPr>
        <p:txBody>
          <a:bodyPr wrap="none" rtlCol="0">
            <a:spAutoFit/>
          </a:bodyPr>
          <a:lstStyle/>
          <a:p>
            <a:r>
              <a:rPr lang="en-IN" sz="2000" dirty="0"/>
              <a:t>Informed Consent</a:t>
            </a:r>
          </a:p>
        </p:txBody>
      </p:sp>
      <p:sp>
        <p:nvSpPr>
          <p:cNvPr id="10" name="TextBox 9">
            <a:extLst>
              <a:ext uri="{FF2B5EF4-FFF2-40B4-BE49-F238E27FC236}">
                <a16:creationId xmlns:a16="http://schemas.microsoft.com/office/drawing/2014/main" id="{DA08E02D-DDD8-CA47-8DD9-9EE7EE7E863B}"/>
              </a:ext>
            </a:extLst>
          </p:cNvPr>
          <p:cNvSpPr txBox="1"/>
          <p:nvPr/>
        </p:nvSpPr>
        <p:spPr>
          <a:xfrm>
            <a:off x="915047" y="4464323"/>
            <a:ext cx="1780231" cy="400110"/>
          </a:xfrm>
          <a:prstGeom prst="rect">
            <a:avLst/>
          </a:prstGeom>
          <a:noFill/>
        </p:spPr>
        <p:txBody>
          <a:bodyPr wrap="none" rtlCol="0">
            <a:spAutoFit/>
          </a:bodyPr>
          <a:lstStyle/>
          <a:p>
            <a:r>
              <a:rPr lang="en-IN" sz="2000" dirty="0"/>
              <a:t>Accountability</a:t>
            </a:r>
          </a:p>
        </p:txBody>
      </p:sp>
      <p:sp>
        <p:nvSpPr>
          <p:cNvPr id="11" name="TextBox 10">
            <a:extLst>
              <a:ext uri="{FF2B5EF4-FFF2-40B4-BE49-F238E27FC236}">
                <a16:creationId xmlns:a16="http://schemas.microsoft.com/office/drawing/2014/main" id="{2DA8ADE0-1A2B-E5CC-4CFE-9F58C3F13751}"/>
              </a:ext>
            </a:extLst>
          </p:cNvPr>
          <p:cNvSpPr txBox="1"/>
          <p:nvPr/>
        </p:nvSpPr>
        <p:spPr>
          <a:xfrm>
            <a:off x="9014906" y="4464323"/>
            <a:ext cx="1938479" cy="400110"/>
          </a:xfrm>
          <a:prstGeom prst="rect">
            <a:avLst/>
          </a:prstGeom>
          <a:noFill/>
        </p:spPr>
        <p:txBody>
          <a:bodyPr wrap="none" rtlCol="0">
            <a:spAutoFit/>
          </a:bodyPr>
          <a:lstStyle/>
          <a:p>
            <a:r>
              <a:rPr lang="en-IN" sz="2000" dirty="0"/>
              <a:t>Benefit vs Harm</a:t>
            </a:r>
          </a:p>
        </p:txBody>
      </p:sp>
      <p:sp>
        <p:nvSpPr>
          <p:cNvPr id="12" name="TextBox 11">
            <a:extLst>
              <a:ext uri="{FF2B5EF4-FFF2-40B4-BE49-F238E27FC236}">
                <a16:creationId xmlns:a16="http://schemas.microsoft.com/office/drawing/2014/main" id="{5BA09221-D9F0-BDFF-2FDE-F4B6BAF9EBBE}"/>
              </a:ext>
            </a:extLst>
          </p:cNvPr>
          <p:cNvSpPr txBox="1"/>
          <p:nvPr/>
        </p:nvSpPr>
        <p:spPr>
          <a:xfrm>
            <a:off x="838200" y="5282514"/>
            <a:ext cx="10515600" cy="1323439"/>
          </a:xfrm>
          <a:prstGeom prst="rect">
            <a:avLst/>
          </a:prstGeom>
          <a:noFill/>
        </p:spPr>
        <p:txBody>
          <a:bodyPr wrap="square" rtlCol="0">
            <a:spAutoFit/>
          </a:bodyPr>
          <a:lstStyle/>
          <a:p>
            <a:pPr algn="just"/>
            <a:r>
              <a:rPr lang="en-IN" sz="2000" kern="100" dirty="0">
                <a:solidFill>
                  <a:srgbClr val="000000"/>
                </a:solidFill>
                <a:effectLst/>
                <a:latin typeface="Aptos" panose="020B0004020202020204" pitchFamily="34" charset="0"/>
                <a:ea typeface="Aptos" panose="020B0004020202020204" pitchFamily="34" charset="0"/>
                <a:cs typeface="Arial" panose="020B0604020202020204" pitchFamily="34" charset="0"/>
              </a:rPr>
              <a:t>Our model’s only ethical dilemma arises from data, the data was sourced from Kaggle, and they have free usage rights on the data, with consent from the individuals because of which our model is not impacted with ethical concerns.</a:t>
            </a:r>
          </a:p>
          <a:p>
            <a:pPr algn="just"/>
            <a:endParaRPr lang="en-IN" sz="2000" dirty="0"/>
          </a:p>
        </p:txBody>
      </p:sp>
      <p:pic>
        <p:nvPicPr>
          <p:cNvPr id="14" name="Graphic 13" descr="Detective male outline">
            <a:extLst>
              <a:ext uri="{FF2B5EF4-FFF2-40B4-BE49-F238E27FC236}">
                <a16:creationId xmlns:a16="http://schemas.microsoft.com/office/drawing/2014/main" id="{EF4DC7A5-7392-CD8A-45AD-0E9E9335CF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26946" y="1858963"/>
            <a:ext cx="914400" cy="914400"/>
          </a:xfrm>
          <a:prstGeom prst="rect">
            <a:avLst/>
          </a:prstGeom>
        </p:spPr>
      </p:pic>
      <p:pic>
        <p:nvPicPr>
          <p:cNvPr id="16" name="Graphic 15" descr="Blind outline">
            <a:extLst>
              <a:ext uri="{FF2B5EF4-FFF2-40B4-BE49-F238E27FC236}">
                <a16:creationId xmlns:a16="http://schemas.microsoft.com/office/drawing/2014/main" id="{E3DB055E-5D14-624E-7D93-826A8CA6A3E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799" y="3578988"/>
            <a:ext cx="914400" cy="914400"/>
          </a:xfrm>
          <a:prstGeom prst="rect">
            <a:avLst/>
          </a:prstGeom>
        </p:spPr>
      </p:pic>
      <p:pic>
        <p:nvPicPr>
          <p:cNvPr id="20" name="Graphic 19" descr="Mental Health outline">
            <a:extLst>
              <a:ext uri="{FF2B5EF4-FFF2-40B4-BE49-F238E27FC236}">
                <a16:creationId xmlns:a16="http://schemas.microsoft.com/office/drawing/2014/main" id="{CBF9AF70-E832-00CD-4646-0AB95C9EBB0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47963" y="1813137"/>
            <a:ext cx="914400" cy="914400"/>
          </a:xfrm>
          <a:prstGeom prst="rect">
            <a:avLst/>
          </a:prstGeom>
        </p:spPr>
      </p:pic>
      <p:pic>
        <p:nvPicPr>
          <p:cNvPr id="22" name="Graphic 21" descr="Safe outline">
            <a:extLst>
              <a:ext uri="{FF2B5EF4-FFF2-40B4-BE49-F238E27FC236}">
                <a16:creationId xmlns:a16="http://schemas.microsoft.com/office/drawing/2014/main" id="{F6E3B3C9-1462-1BF5-8346-BAB37CD559D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38799" y="1813137"/>
            <a:ext cx="914400" cy="914400"/>
          </a:xfrm>
          <a:prstGeom prst="rect">
            <a:avLst/>
          </a:prstGeom>
        </p:spPr>
      </p:pic>
      <p:pic>
        <p:nvPicPr>
          <p:cNvPr id="24" name="Graphic 23" descr="Reflection outline">
            <a:extLst>
              <a:ext uri="{FF2B5EF4-FFF2-40B4-BE49-F238E27FC236}">
                <a16:creationId xmlns:a16="http://schemas.microsoft.com/office/drawing/2014/main" id="{4A0477E8-81CD-87BA-9116-0689A760B24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26946" y="3578988"/>
            <a:ext cx="914400" cy="914400"/>
          </a:xfrm>
          <a:prstGeom prst="rect">
            <a:avLst/>
          </a:prstGeom>
        </p:spPr>
      </p:pic>
      <p:pic>
        <p:nvPicPr>
          <p:cNvPr id="26" name="Graphic 25" descr="Questions outline">
            <a:extLst>
              <a:ext uri="{FF2B5EF4-FFF2-40B4-BE49-F238E27FC236}">
                <a16:creationId xmlns:a16="http://schemas.microsoft.com/office/drawing/2014/main" id="{405F0C1C-D0DC-94EC-1610-41756C02312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47963" y="3556635"/>
            <a:ext cx="914400" cy="914400"/>
          </a:xfrm>
          <a:prstGeom prst="rect">
            <a:avLst/>
          </a:prstGeom>
        </p:spPr>
      </p:pic>
      <p:pic>
        <p:nvPicPr>
          <p:cNvPr id="17" name="Audio 16">
            <a:extLst>
              <a:ext uri="{FF2B5EF4-FFF2-40B4-BE49-F238E27FC236}">
                <a16:creationId xmlns:a16="http://schemas.microsoft.com/office/drawing/2014/main" id="{6EBDC0C6-DC7E-AA2F-A9F4-12925439DE1A}"/>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58011760"/>
      </p:ext>
    </p:extLst>
  </p:cSld>
  <p:clrMapOvr>
    <a:masterClrMapping/>
  </p:clrMapOvr>
  <mc:AlternateContent xmlns:mc="http://schemas.openxmlformats.org/markup-compatibility/2006">
    <mc:Choice xmlns:p14="http://schemas.microsoft.com/office/powerpoint/2010/main" Requires="p14">
      <p:transition spd="slow" p14:dur="2000" advTm="100574"/>
    </mc:Choice>
    <mc:Fallback>
      <p:transition spd="slow" advTm="1005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567</TotalTime>
  <Words>1899</Words>
  <Application>Microsoft Macintosh PowerPoint</Application>
  <PresentationFormat>Widescreen</PresentationFormat>
  <Paragraphs>186</Paragraphs>
  <Slides>12</Slides>
  <Notes>12</Notes>
  <HiddenSlides>0</HiddenSlides>
  <MMClips>12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Aptos Mono</vt:lpstr>
      <vt:lpstr>Aptos Narrow</vt:lpstr>
      <vt:lpstr>Arial</vt:lpstr>
      <vt:lpstr>Arial Narrow</vt:lpstr>
      <vt:lpstr>Times New Roman</vt:lpstr>
      <vt:lpstr>Office Theme</vt:lpstr>
      <vt:lpstr>EARNINGS ENIGMA: CRACKING THE CODE  WITH K-NN AND NAÏVE BAYES </vt:lpstr>
      <vt:lpstr>P R O J E C T   S T R U C T U R E </vt:lpstr>
      <vt:lpstr>D A T A</vt:lpstr>
      <vt:lpstr>F E A T U R E   S E L E C T I O N</vt:lpstr>
      <vt:lpstr>C O R R E L A T I O N  &amp;  P A I R  M A T R I X  P L O T</vt:lpstr>
      <vt:lpstr>B A C K W A R D   S T E P W I S E   R E G R E S S I O N </vt:lpstr>
      <vt:lpstr>P C A (P R I N C I P A L   C O M P O N E N T   A N A L Y S I S)</vt:lpstr>
      <vt:lpstr>A L G O R I T H M </vt:lpstr>
      <vt:lpstr>K N N  C L A S S I F I C A T I O N </vt:lpstr>
      <vt:lpstr>N A Ï V E   B A Y E S</vt:lpstr>
      <vt:lpstr>F I N D I N G S</vt:lpstr>
      <vt:lpstr>E T H I C A L   C O N C E R N 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Aloysius Peter</dc:creator>
  <cp:lastModifiedBy>varunvedula251@gmail.com</cp:lastModifiedBy>
  <cp:revision>17</cp:revision>
  <dcterms:created xsi:type="dcterms:W3CDTF">2024-07-07T15:29:08Z</dcterms:created>
  <dcterms:modified xsi:type="dcterms:W3CDTF">2024-07-14T23:10:09Z</dcterms:modified>
</cp:coreProperties>
</file>